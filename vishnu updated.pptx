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2"/>
  </p:notesMasterIdLst>
  <p:sldIdLst>
    <p:sldId id="291" r:id="rId2"/>
    <p:sldId id="256" r:id="rId3"/>
    <p:sldId id="272" r:id="rId4"/>
    <p:sldId id="290" r:id="rId5"/>
    <p:sldId id="274" r:id="rId6"/>
    <p:sldId id="286" r:id="rId7"/>
    <p:sldId id="275" r:id="rId8"/>
    <p:sldId id="276" r:id="rId9"/>
    <p:sldId id="277" r:id="rId10"/>
    <p:sldId id="287" r:id="rId11"/>
    <p:sldId id="278" r:id="rId12"/>
    <p:sldId id="279" r:id="rId13"/>
    <p:sldId id="280" r:id="rId14"/>
    <p:sldId id="288" r:id="rId15"/>
    <p:sldId id="281" r:id="rId16"/>
    <p:sldId id="282" r:id="rId17"/>
    <p:sldId id="289" r:id="rId18"/>
    <p:sldId id="283" r:id="rId19"/>
    <p:sldId id="284" r:id="rId20"/>
    <p:sldId id="28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FF5"/>
    <a:srgbClr val="43759C"/>
    <a:srgbClr val="0BA0D5"/>
    <a:srgbClr val="F2F2F2"/>
    <a:srgbClr val="CDE6F2"/>
    <a:srgbClr val="90CCED"/>
    <a:srgbClr val="0E9FD5"/>
    <a:srgbClr val="90CEEE"/>
    <a:srgbClr val="C0DCEE"/>
    <a:srgbClr val="5B9C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p:scale>
          <a:sx n="50" d="100"/>
          <a:sy n="50" d="100"/>
        </p:scale>
        <p:origin x="1925" y="65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73AF93-3DD2-47EA-9E98-7EDC56B8F9E4}" type="datetimeFigureOut">
              <a:t>3/25/2026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5B389D-BCCD-469A-9303-95A63580F64E}" type="slidenum">
              <a:t>‹#›</a:t>
            </a:fld>
            <a:endParaRPr lang="en-GB"/>
          </a:p>
        </p:txBody>
      </p:sp>
    </p:spTree>
    <p:extLst>
      <p:ext uri="{BB962C8B-B14F-4D97-AF65-F5344CB8AC3E}">
        <p14:creationId xmlns:p14="http://schemas.microsoft.com/office/powerpoint/2010/main" val="1439221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oogle.com/search?q=rifampicin&amp;oq=tubercuosis+treatment+abx+effect+on+c+diff&amp;gs_lcrp=EgZjaHJvbWUyBggAEEUYOTIJCAEQIRgKGKABMgkIAhAhGAoYoAEyBwgDECEYjwLSAQk2OTQ3NWowajeoAgCwAgA&amp;sourceid=chrome&amp;ie=UTF-8&amp;mstk=AUtExfDJZD63p1kjx1uMjhWdP2yKMtRS8joteNoypuNgNF8vzgL_GsJjaMA1Lu3YE6SFnCvFDKj9gAupcg8PgW1fgkAMejQsxR_6GgJJJBEng70hUe_gT5XVfRQw8XKEMKtLJgZnaZlB7S6UxDZvCQc24NGuA119akBYjF-si6mqO6y3Wqw&amp;csui=3&amp;ved=2ahUKEwjl6-aTgOCQAxUaNPsDHW0SOA8QgK4QegQIARAB"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google.com/search?q=C.+difficile&amp;oq=tubercuosis+treatment+abx+effect+on+c+diff&amp;gs_lcrp=EgZjaHJvbWUyBggAEEUYOTIJCAEQIRgKGKABMgkIAhAhGAoYoAEyBwgDECEYjwLSAQk2OTQ3NWowajeoAgCwAgA&amp;sourceid=chrome&amp;ie=UTF-8&amp;mstk=AUtExfDJZD63p1kjx1uMjhWdP2yKMtRS8joteNoypuNgNF8vzgL_GsJjaMA1Lu3YE6SFnCvFDKj9gAupcg8PgW1fgkAMejQsxR_6GgJJJBEng70hUe_gT5XVfRQw8XKEMKtLJgZnaZlB7S6UxDZvCQc24NGuA119akBYjF-si6mqO6y3Wqw&amp;csui=3&amp;ved=2ahUKEwjl6-aTgOCQAxUaNPsDHW0SOA8QgK4QegQIARAC"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google.com/search?q=rifampicin&amp;oq=tubercuosis+treatment+abx+effect+on+c+diff&amp;gs_lcrp=EgZjaHJvbWUyBggAEEUYOTIJCAEQIRgKGKABMgkIAhAhGAoYoAEyBwgDECEYjwLSAQk2OTQ3NWowajeoAgCwAgA&amp;sourceid=chrome&amp;ie=UTF-8&amp;mstk=AUtExfDJZD63p1kjx1uMjhWdP2yKMtRS8joteNoypuNgNF8vzgL_GsJjaMA1Lu3YE6SFnCvFDKj9gAupcg8PgW1fgkAMejQsxR_6GgJJJBEng70hUe_gT5XVfRQw8XKEMKtLJgZnaZlB7S6UxDZvCQc24NGuA119akBYjF-si6mqO6y3Wqw&amp;csui=3&amp;ved=2ahUKEwjl6-aTgOCQAxUaNPsDHW0SOA8QgK4QegQIARAB"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google.com/search?q=C.+difficile&amp;oq=tubercuosis+treatment+abx+effect+on+c+diff&amp;gs_lcrp=EgZjaHJvbWUyBggAEEUYOTIJCAEQIRgKGKABMgkIAhAhGAoYoAEyBwgDECEYjwLSAQk2OTQ3NWowajeoAgCwAgA&amp;sourceid=chrome&amp;ie=UTF-8&amp;mstk=AUtExfDJZD63p1kjx1uMjhWdP2yKMtRS8joteNoypuNgNF8vzgL_GsJjaMA1Lu3YE6SFnCvFDKj9gAupcg8PgW1fgkAMejQsxR_6GgJJJBEng70hUe_gT5XVfRQw8XKEMKtLJgZnaZlB7S6UxDZvCQc24NGuA119akBYjF-si6mqO6y3Wqw&amp;csui=3&amp;ved=2ahUKEwjl6-aTgOCQAxUaNPsDHW0SOA8QgK4QegQIARAC"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15B389D-BCCD-469A-9303-95A63580F64E}" type="slidenum">
              <a:rPr lang="en-GB" smtClean="0"/>
              <a:t>2</a:t>
            </a:fld>
            <a:endParaRPr lang="en-GB"/>
          </a:p>
        </p:txBody>
      </p:sp>
    </p:spTree>
    <p:extLst>
      <p:ext uri="{BB962C8B-B14F-4D97-AF65-F5344CB8AC3E}">
        <p14:creationId xmlns:p14="http://schemas.microsoft.com/office/powerpoint/2010/main" val="3877732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A geriatric unit at the Ohio State University Hospital is used to treat elderly patients with a variety of healthcare needs. On 09/11/2025 the ward was full and a 79 year old patient (75896-2015) who had recently emigrated from Pakistan was admitted with shortness of breath, a low-grade fever (38.5oC) and a productive cough. The patient was a smoker and reported being in good health otherwise. The patient was administered amoxicillin 500 mg orally 3 times a day for suspected pneumonia and sent for a chest X-ray. The chest X-ray revealed substantial infiltrates in the lower left lung. The patient subsequently developed a fever of 40.0oC, abdominal pain and cramps, followed by profuse watery diarrhoea. The patient was immediately moved to an isolation room and was started on oral metronidazole (400mg every 6 hours). A faecal specimen was taken along with a blood sample and these were sent for microscopy, culture, and sensitivities, and haematological and biochemical assays respectively (Table 1). Analysis of faecal specimen from patient 75896-2015 identified a gastrointestinal pathogen and the diagnosis of the infection was confirmed with a positive faecal Glutamate Dehydrogenase (GDH) test. The consultant microbiologist then ordered antimicrobial susceptibilities be performed and molecular typing (PCR ribotyping; Figure 1) of the suspected causative pathogen. Once the blood data had been reviewed by the Consultant, the patient was immediately withdrawn from metronidazole therapy and started on oral vancomycin (125 mg every 6 hours). The patient deteriorated rapidly. A computerised tomography scan revealed dilation of the colon (8 cm) and thickness of the colon wall of 15 mm. Colonoscopy revealed the presence of visible raised, yellow plaques ranging from 2 to 10 mm in diameter scattered over the colorectal mucosa. The patient was continually administered fluids and electrolytes throughout the hospital admission. Six other patients on the geriatric ward (aged 85-99) developed similar severe gastrointestinal symptoms and were treated in an identical manner to patient 75896-2015. All of the patients rapidly developed signs of sepsis and despite emergency colectomy surgery, all patients died as a consequence of their infections. The clinical microbiology laboratory performed antimicrobial susceptibilities on gastrointestinal pathogens isolated from all patients (Table 2).</a:t>
            </a:r>
          </a:p>
          <a:p>
            <a:endParaRPr lang="en-GB"/>
          </a:p>
          <a:p>
            <a:r>
              <a:rPr lang="en-GB"/>
              <a:t>Once the patient’s medical records were obtained, it became apparent that he had finished a 6-month course of antimicrobial therapy for pulmonary tuberculosis (pyrazinamide, ethambutol, isoniazid, and rifampicin) 6-months previously in Pakistan and been declared free of Mycobacterium tuberculosis prior to emigrating. </a:t>
            </a:r>
          </a:p>
        </p:txBody>
      </p:sp>
      <p:sp>
        <p:nvSpPr>
          <p:cNvPr id="4" name="Slide Number Placeholder 3"/>
          <p:cNvSpPr>
            <a:spLocks noGrp="1"/>
          </p:cNvSpPr>
          <p:nvPr>
            <p:ph type="sldNum" sz="quarter" idx="5"/>
          </p:nvPr>
        </p:nvSpPr>
        <p:spPr/>
        <p:txBody>
          <a:bodyPr/>
          <a:lstStyle/>
          <a:p>
            <a:fld id="{915B389D-BCCD-469A-9303-95A63580F64E}" type="slidenum">
              <a:rPr lang="en-GB" smtClean="0"/>
              <a:t>3</a:t>
            </a:fld>
            <a:endParaRPr lang="en-GB"/>
          </a:p>
        </p:txBody>
      </p:sp>
    </p:spTree>
    <p:extLst>
      <p:ext uri="{BB962C8B-B14F-4D97-AF65-F5344CB8AC3E}">
        <p14:creationId xmlns:p14="http://schemas.microsoft.com/office/powerpoint/2010/main" val="497653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TB- not fully being cured in Pakistan, could lead to secondary colonic TB via the ingestion of sputum containing the pathogenic organism, mycobacterium tuberculosis(Park et al., 2021) from pulmonary TB(</a:t>
            </a:r>
            <a:r>
              <a:rPr lang="en-GB" err="1"/>
              <a:t>Chakinala</a:t>
            </a:r>
            <a:r>
              <a:rPr lang="en-GB"/>
              <a:t> &amp; Khatri, 2020).  Hence why he experienced abdominal pain and cramps, plaque deposits in the colon (colonoscopy) and inflammation of the colon 8mm to15mm by </a:t>
            </a:r>
            <a:r>
              <a:rPr lang="en-GB" err="1"/>
              <a:t>granulaomas</a:t>
            </a:r>
            <a:r>
              <a:rPr lang="en-GB"/>
              <a:t>(immune cells) (</a:t>
            </a:r>
            <a:r>
              <a:rPr lang="en-GB" err="1"/>
              <a:t>Chakinala</a:t>
            </a:r>
            <a:r>
              <a:rPr lang="en-GB"/>
              <a:t> &amp; Khatri, 2020) Non-specific symptoms, seems to mimic other infections, lead to misdiagnosis.</a:t>
            </a:r>
          </a:p>
          <a:p>
            <a:endParaRPr lang="en-GB"/>
          </a:p>
          <a:p>
            <a:r>
              <a:rPr lang="en-GB"/>
              <a:t>Pneumonia-  infection of the lungs- symptoms shortness of breath and a productive cough. X-ray showed damage in the lower left lung- potentially due to inflammation in the alveoli, which can allow fluid into the lungs(National Heart, Lung and Blood Institute, 2022)</a:t>
            </a:r>
          </a:p>
          <a:p>
            <a:endParaRPr lang="en-GB"/>
          </a:p>
          <a:p>
            <a:r>
              <a:rPr lang="en-GB"/>
              <a:t>Cholera- causative pathogen is the bacteria vibrio cholerae from food and water, that is transmitted via the faecal-oral route</a:t>
            </a:r>
          </a:p>
          <a:p>
            <a:r>
              <a:rPr lang="en-GB"/>
              <a:t>Could be spread due to poor hygiene in the hospital</a:t>
            </a:r>
          </a:p>
          <a:p>
            <a:r>
              <a:rPr lang="en-GB"/>
              <a:t>Causes diarrhoea, as seen in the patient  </a:t>
            </a:r>
          </a:p>
          <a:p>
            <a:r>
              <a:rPr lang="en-GB"/>
              <a:t>Many endemics in Asia- patient recently came to the UK from Pakistan(Ojeda Rodriguez &amp; Kahwaji, 2024)</a:t>
            </a:r>
          </a:p>
          <a:p>
            <a:endParaRPr lang="en-GB"/>
          </a:p>
          <a:p>
            <a:r>
              <a:rPr lang="en-GB">
                <a:effectLst/>
              </a:rPr>
              <a:t>Tuberculosis (TB) treatment, especially using </a:t>
            </a:r>
            <a:r>
              <a:rPr lang="en-GB" sz="1200" b="1" i="0" kern="1200">
                <a:solidFill>
                  <a:schemeClr val="tx1"/>
                </a:solidFill>
                <a:effectLst/>
                <a:latin typeface="+mn-lt"/>
                <a:ea typeface="+mn-ea"/>
                <a:cs typeface="+mn-cs"/>
                <a:hlinkClick r:id="rId3"/>
              </a:rPr>
              <a:t>rifampicin</a:t>
            </a:r>
            <a:r>
              <a:rPr lang="en-GB" sz="1200" b="0" i="0" kern="1200">
                <a:solidFill>
                  <a:schemeClr val="tx1"/>
                </a:solidFill>
                <a:effectLst/>
                <a:latin typeface="+mn-lt"/>
                <a:ea typeface="+mn-ea"/>
                <a:cs typeface="+mn-cs"/>
              </a:rPr>
              <a:t>, can affect </a:t>
            </a:r>
            <a:r>
              <a:rPr lang="en-GB" sz="1200" b="0" i="1" kern="1200">
                <a:solidFill>
                  <a:schemeClr val="tx1"/>
                </a:solidFill>
                <a:effectLst/>
                <a:latin typeface="+mn-lt"/>
                <a:ea typeface="+mn-ea"/>
                <a:cs typeface="+mn-cs"/>
                <a:hlinkClick r:id="rId4"/>
              </a:rPr>
              <a:t>C. difficile</a:t>
            </a:r>
            <a:r>
              <a:rPr lang="en-GB" sz="1200" b="0" i="0" kern="1200">
                <a:solidFill>
                  <a:schemeClr val="tx1"/>
                </a:solidFill>
                <a:effectLst/>
                <a:latin typeface="+mn-lt"/>
                <a:ea typeface="+mn-ea"/>
                <a:cs typeface="+mn-cs"/>
              </a:rPr>
              <a:t> by </a:t>
            </a:r>
            <a:r>
              <a:rPr lang="en-GB">
                <a:effectLst/>
              </a:rPr>
              <a:t>disrupting the gut microbiome, which may increase the risk of developing </a:t>
            </a:r>
            <a:r>
              <a:rPr lang="en-GB" i="1">
                <a:effectLst/>
              </a:rPr>
              <a:t>C. difficile</a:t>
            </a:r>
            <a:r>
              <a:rPr lang="en-GB">
                <a:effectLst/>
              </a:rPr>
              <a:t> infection (CDI)</a:t>
            </a:r>
            <a:r>
              <a:rPr lang="en-GB" sz="1200" b="0" i="0" kern="1200">
                <a:solidFill>
                  <a:schemeClr val="tx1"/>
                </a:solidFill>
                <a:effectLst/>
                <a:latin typeface="+mn-lt"/>
                <a:ea typeface="+mn-ea"/>
                <a:cs typeface="+mn-cs"/>
              </a:rPr>
              <a:t>. While other TB drugs have little effect, rifampicin's broad-spectrum activity can suppress beneficial bacteria, and some </a:t>
            </a:r>
            <a:r>
              <a:rPr lang="en-GB" sz="1200" b="0" i="1" kern="1200">
                <a:solidFill>
                  <a:schemeClr val="tx1"/>
                </a:solidFill>
                <a:effectLst/>
                <a:latin typeface="+mn-lt"/>
                <a:ea typeface="+mn-ea"/>
                <a:cs typeface="+mn-cs"/>
              </a:rPr>
              <a:t>C. difficile</a:t>
            </a:r>
            <a:r>
              <a:rPr lang="en-GB" sz="1200" b="0" i="0" kern="1200">
                <a:solidFill>
                  <a:schemeClr val="tx1"/>
                </a:solidFill>
                <a:effectLst/>
                <a:latin typeface="+mn-lt"/>
                <a:ea typeface="+mn-ea"/>
                <a:cs typeface="+mn-cs"/>
              </a:rPr>
              <a:t> strains can develop high-level resistance to it, complicating treatment for both TB and CDI. Patients on TB therapy with </a:t>
            </a:r>
            <a:r>
              <a:rPr lang="en-GB" sz="1200" b="0" i="0" kern="1200" err="1">
                <a:solidFill>
                  <a:schemeClr val="tx1"/>
                </a:solidFill>
                <a:effectLst/>
                <a:latin typeface="+mn-lt"/>
                <a:ea typeface="+mn-ea"/>
                <a:cs typeface="+mn-cs"/>
              </a:rPr>
              <a:t>diarrhea</a:t>
            </a:r>
            <a:r>
              <a:rPr lang="en-GB" sz="1200" b="0" i="0" kern="1200">
                <a:solidFill>
                  <a:schemeClr val="tx1"/>
                </a:solidFill>
                <a:effectLst/>
                <a:latin typeface="+mn-lt"/>
                <a:ea typeface="+mn-ea"/>
                <a:cs typeface="+mn-cs"/>
              </a:rPr>
              <a:t> should be evaluated for CDI, particularly if they are receiving </a:t>
            </a:r>
            <a:r>
              <a:rPr lang="en-GB" sz="1200" kern="1200">
                <a:solidFill>
                  <a:schemeClr val="tx1"/>
                </a:solidFill>
                <a:effectLst/>
                <a:latin typeface="+mn-lt"/>
                <a:ea typeface="+mn-ea"/>
                <a:cs typeface="+mn-cs"/>
              </a:rPr>
              <a:t>(Obuch-</a:t>
            </a:r>
            <a:r>
              <a:rPr lang="en-GB" sz="1200" kern="1200" err="1">
                <a:solidFill>
                  <a:schemeClr val="tx1"/>
                </a:solidFill>
                <a:effectLst/>
                <a:latin typeface="+mn-lt"/>
                <a:ea typeface="+mn-ea"/>
                <a:cs typeface="+mn-cs"/>
              </a:rPr>
              <a:t>Woszczatyński</a:t>
            </a:r>
            <a:r>
              <a:rPr lang="en-GB" sz="1200" kern="1200">
                <a:solidFill>
                  <a:schemeClr val="tx1"/>
                </a:solidFill>
                <a:effectLst/>
                <a:latin typeface="+mn-lt"/>
                <a:ea typeface="+mn-ea"/>
                <a:cs typeface="+mn-cs"/>
              </a:rPr>
              <a:t> et al., 2013)</a:t>
            </a:r>
            <a:endParaRPr lang="en-GB"/>
          </a:p>
        </p:txBody>
      </p:sp>
      <p:sp>
        <p:nvSpPr>
          <p:cNvPr id="4" name="Slide Number Placeholder 3"/>
          <p:cNvSpPr>
            <a:spLocks noGrp="1"/>
          </p:cNvSpPr>
          <p:nvPr>
            <p:ph type="sldNum" sz="quarter" idx="5"/>
          </p:nvPr>
        </p:nvSpPr>
        <p:spPr/>
        <p:txBody>
          <a:bodyPr/>
          <a:lstStyle/>
          <a:p>
            <a:fld id="{915B389D-BCCD-469A-9303-95A63580F64E}" type="slidenum">
              <a:rPr lang="en-GB" smtClean="0"/>
              <a:t>5</a:t>
            </a:fld>
            <a:endParaRPr lang="en-GB"/>
          </a:p>
        </p:txBody>
      </p:sp>
    </p:spTree>
    <p:extLst>
      <p:ext uri="{BB962C8B-B14F-4D97-AF65-F5344CB8AC3E}">
        <p14:creationId xmlns:p14="http://schemas.microsoft.com/office/powerpoint/2010/main" val="1197470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018A1-A9F6-B01D-EED4-A0B9EE368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011CE-AA82-0507-D457-E062090A3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892A6-FAF6-B5A0-2441-6615356E32C5}"/>
              </a:ext>
            </a:extLst>
          </p:cNvPr>
          <p:cNvSpPr>
            <a:spLocks noGrp="1"/>
          </p:cNvSpPr>
          <p:nvPr>
            <p:ph type="body" idx="1"/>
          </p:nvPr>
        </p:nvSpPr>
        <p:spPr/>
        <p:txBody>
          <a:bodyPr/>
          <a:lstStyle/>
          <a:p>
            <a:r>
              <a:rPr lang="en-GB"/>
              <a:t>TB- not fully being cured in Pakistan, could lead to secondary colonic TB via the ingestion of sputum containing the pathogenic organism, mycobacterium tuberculosis(Park et al., 2021) from pulmonary TB(</a:t>
            </a:r>
            <a:r>
              <a:rPr lang="en-GB" err="1"/>
              <a:t>Chakinala</a:t>
            </a:r>
            <a:r>
              <a:rPr lang="en-GB"/>
              <a:t> &amp; Khatri, 2020).  Hence why he experienced abdominal pain and cramps, plaque deposits in the colon (colonoscopy) and inflammation of the colon 8mm to15mm by </a:t>
            </a:r>
            <a:r>
              <a:rPr lang="en-GB" err="1"/>
              <a:t>granulaomas</a:t>
            </a:r>
            <a:r>
              <a:rPr lang="en-GB"/>
              <a:t>(immune cells) (</a:t>
            </a:r>
            <a:r>
              <a:rPr lang="en-GB" err="1"/>
              <a:t>Chakinala</a:t>
            </a:r>
            <a:r>
              <a:rPr lang="en-GB"/>
              <a:t> &amp; Khatri, 2020) Non-specific symptoms, seems to mimic other infections, lead to misdiagnosis.</a:t>
            </a:r>
          </a:p>
          <a:p>
            <a:endParaRPr lang="en-GB"/>
          </a:p>
          <a:p>
            <a:r>
              <a:rPr lang="en-GB"/>
              <a:t>Pneumonia-  infection of the lungs- symptoms shortness of breath and a productive cough. X-ray showed damage in the lower left lung- potentially due to inflammation in the alveoli, which can allow fluid into the lungs(National Heart, Lung and Blood Institute, 2022)</a:t>
            </a:r>
          </a:p>
          <a:p>
            <a:endParaRPr lang="en-GB"/>
          </a:p>
          <a:p>
            <a:r>
              <a:rPr lang="en-GB"/>
              <a:t>Cholera- causative pathogen is the bacteria vibrio cholerae from food and water, that is transmitted via the faecal-oral route</a:t>
            </a:r>
          </a:p>
          <a:p>
            <a:r>
              <a:rPr lang="en-GB"/>
              <a:t>Could be spread due to poor hygiene in the hospital</a:t>
            </a:r>
          </a:p>
          <a:p>
            <a:r>
              <a:rPr lang="en-GB"/>
              <a:t>Causes diarrhoea, as seen in the patient  </a:t>
            </a:r>
          </a:p>
          <a:p>
            <a:r>
              <a:rPr lang="en-GB"/>
              <a:t>Many endemics in Asia- patient recently came to the UK from Pakistan(Ojeda Rodriguez &amp; Kahwaji, 2024)</a:t>
            </a:r>
          </a:p>
          <a:p>
            <a:endParaRPr lang="en-GB"/>
          </a:p>
          <a:p>
            <a:r>
              <a:rPr lang="en-GB">
                <a:effectLst/>
              </a:rPr>
              <a:t>Tuberculosis (TB) treatment, especially using </a:t>
            </a:r>
            <a:r>
              <a:rPr lang="en-GB" sz="1200" b="1" i="0" kern="1200">
                <a:solidFill>
                  <a:schemeClr val="tx1"/>
                </a:solidFill>
                <a:effectLst/>
                <a:latin typeface="+mn-lt"/>
                <a:ea typeface="+mn-ea"/>
                <a:cs typeface="+mn-cs"/>
                <a:hlinkClick r:id="rId3"/>
              </a:rPr>
              <a:t>rifampicin</a:t>
            </a:r>
            <a:r>
              <a:rPr lang="en-GB" sz="1200" b="0" i="0" kern="1200">
                <a:solidFill>
                  <a:schemeClr val="tx1"/>
                </a:solidFill>
                <a:effectLst/>
                <a:latin typeface="+mn-lt"/>
                <a:ea typeface="+mn-ea"/>
                <a:cs typeface="+mn-cs"/>
              </a:rPr>
              <a:t>, can affect </a:t>
            </a:r>
            <a:r>
              <a:rPr lang="en-GB" sz="1200" b="0" i="1" kern="1200">
                <a:solidFill>
                  <a:schemeClr val="tx1"/>
                </a:solidFill>
                <a:effectLst/>
                <a:latin typeface="+mn-lt"/>
                <a:ea typeface="+mn-ea"/>
                <a:cs typeface="+mn-cs"/>
                <a:hlinkClick r:id="rId4"/>
              </a:rPr>
              <a:t>C. difficile</a:t>
            </a:r>
            <a:r>
              <a:rPr lang="en-GB" sz="1200" b="0" i="0" kern="1200">
                <a:solidFill>
                  <a:schemeClr val="tx1"/>
                </a:solidFill>
                <a:effectLst/>
                <a:latin typeface="+mn-lt"/>
                <a:ea typeface="+mn-ea"/>
                <a:cs typeface="+mn-cs"/>
              </a:rPr>
              <a:t> by </a:t>
            </a:r>
            <a:r>
              <a:rPr lang="en-GB">
                <a:effectLst/>
              </a:rPr>
              <a:t>disrupting the gut microbiome, which may increase the risk of developing </a:t>
            </a:r>
            <a:r>
              <a:rPr lang="en-GB" i="1">
                <a:effectLst/>
              </a:rPr>
              <a:t>C. difficile</a:t>
            </a:r>
            <a:r>
              <a:rPr lang="en-GB">
                <a:effectLst/>
              </a:rPr>
              <a:t> infection (CDI)</a:t>
            </a:r>
            <a:r>
              <a:rPr lang="en-GB" sz="1200" b="0" i="0" kern="1200">
                <a:solidFill>
                  <a:schemeClr val="tx1"/>
                </a:solidFill>
                <a:effectLst/>
                <a:latin typeface="+mn-lt"/>
                <a:ea typeface="+mn-ea"/>
                <a:cs typeface="+mn-cs"/>
              </a:rPr>
              <a:t>. While other TB drugs have little effect, rifampicin's broad-spectrum activity can suppress beneficial bacteria, and some </a:t>
            </a:r>
            <a:r>
              <a:rPr lang="en-GB" sz="1200" b="0" i="1" kern="1200">
                <a:solidFill>
                  <a:schemeClr val="tx1"/>
                </a:solidFill>
                <a:effectLst/>
                <a:latin typeface="+mn-lt"/>
                <a:ea typeface="+mn-ea"/>
                <a:cs typeface="+mn-cs"/>
              </a:rPr>
              <a:t>C. difficile</a:t>
            </a:r>
            <a:r>
              <a:rPr lang="en-GB" sz="1200" b="0" i="0" kern="1200">
                <a:solidFill>
                  <a:schemeClr val="tx1"/>
                </a:solidFill>
                <a:effectLst/>
                <a:latin typeface="+mn-lt"/>
                <a:ea typeface="+mn-ea"/>
                <a:cs typeface="+mn-cs"/>
              </a:rPr>
              <a:t> strains can develop high-level resistance to it, complicating treatment for both TB and CDI. Patients on TB therapy with </a:t>
            </a:r>
            <a:r>
              <a:rPr lang="en-GB" sz="1200" b="0" i="0" kern="1200" err="1">
                <a:solidFill>
                  <a:schemeClr val="tx1"/>
                </a:solidFill>
                <a:effectLst/>
                <a:latin typeface="+mn-lt"/>
                <a:ea typeface="+mn-ea"/>
                <a:cs typeface="+mn-cs"/>
              </a:rPr>
              <a:t>diarrhea</a:t>
            </a:r>
            <a:r>
              <a:rPr lang="en-GB" sz="1200" b="0" i="0" kern="1200">
                <a:solidFill>
                  <a:schemeClr val="tx1"/>
                </a:solidFill>
                <a:effectLst/>
                <a:latin typeface="+mn-lt"/>
                <a:ea typeface="+mn-ea"/>
                <a:cs typeface="+mn-cs"/>
              </a:rPr>
              <a:t> should be evaluated for CDI, particularly if they are receiving </a:t>
            </a:r>
            <a:r>
              <a:rPr lang="en-GB" sz="1200" kern="1200">
                <a:solidFill>
                  <a:schemeClr val="tx1"/>
                </a:solidFill>
                <a:effectLst/>
                <a:latin typeface="+mn-lt"/>
                <a:ea typeface="+mn-ea"/>
                <a:cs typeface="+mn-cs"/>
              </a:rPr>
              <a:t>(Obuch-</a:t>
            </a:r>
            <a:r>
              <a:rPr lang="en-GB" sz="1200" kern="1200" err="1">
                <a:solidFill>
                  <a:schemeClr val="tx1"/>
                </a:solidFill>
                <a:effectLst/>
                <a:latin typeface="+mn-lt"/>
                <a:ea typeface="+mn-ea"/>
                <a:cs typeface="+mn-cs"/>
              </a:rPr>
              <a:t>Woszczatyński</a:t>
            </a:r>
            <a:r>
              <a:rPr lang="en-GB" sz="1200" kern="1200">
                <a:solidFill>
                  <a:schemeClr val="tx1"/>
                </a:solidFill>
                <a:effectLst/>
                <a:latin typeface="+mn-lt"/>
                <a:ea typeface="+mn-ea"/>
                <a:cs typeface="+mn-cs"/>
              </a:rPr>
              <a:t> et al., 2013)</a:t>
            </a:r>
            <a:endParaRPr lang="en-GB"/>
          </a:p>
        </p:txBody>
      </p:sp>
      <p:sp>
        <p:nvSpPr>
          <p:cNvPr id="4" name="Slide Number Placeholder 3">
            <a:extLst>
              <a:ext uri="{FF2B5EF4-FFF2-40B4-BE49-F238E27FC236}">
                <a16:creationId xmlns:a16="http://schemas.microsoft.com/office/drawing/2014/main" id="{8AC4EB50-A787-1126-4769-E85CBBD177E1}"/>
              </a:ext>
            </a:extLst>
          </p:cNvPr>
          <p:cNvSpPr>
            <a:spLocks noGrp="1"/>
          </p:cNvSpPr>
          <p:nvPr>
            <p:ph type="sldNum" sz="quarter" idx="5"/>
          </p:nvPr>
        </p:nvSpPr>
        <p:spPr/>
        <p:txBody>
          <a:bodyPr/>
          <a:lstStyle/>
          <a:p>
            <a:fld id="{915B389D-BCCD-469A-9303-95A63580F64E}" type="slidenum">
              <a:rPr lang="en-GB" smtClean="0"/>
              <a:t>6</a:t>
            </a:fld>
            <a:endParaRPr lang="en-GB"/>
          </a:p>
        </p:txBody>
      </p:sp>
    </p:spTree>
    <p:extLst>
      <p:ext uri="{BB962C8B-B14F-4D97-AF65-F5344CB8AC3E}">
        <p14:creationId xmlns:p14="http://schemas.microsoft.com/office/powerpoint/2010/main" val="37278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5B389D-BCCD-469A-9303-95A63580F64E}" type="slidenum">
              <a:rPr lang="en-US" smtClean="0"/>
              <a:t>19</a:t>
            </a:fld>
            <a:endParaRPr lang="en-US"/>
          </a:p>
        </p:txBody>
      </p:sp>
    </p:spTree>
    <p:extLst>
      <p:ext uri="{BB962C8B-B14F-4D97-AF65-F5344CB8AC3E}">
        <p14:creationId xmlns:p14="http://schemas.microsoft.com/office/powerpoint/2010/main" val="2468790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20789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7122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434290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846CE7D5-CF57-46EF-B807-FDD0502418D4}" type="datetimeFigureOut">
              <a:rPr lang="en-GB" smtClean="0"/>
              <a:t>25/03/2026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2822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846CE7D5-CF57-46EF-B807-FDD0502418D4}" type="datetimeFigureOut">
              <a:rPr lang="en-GB" smtClean="0"/>
              <a:t>25/03/2026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55083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846CE7D5-CF57-46EF-B807-FDD0502418D4}" type="datetimeFigureOut">
              <a:rPr lang="en-GB" smtClean="0"/>
              <a:t>25/03/2026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71243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25/03/2026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4037875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59104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25/03/2026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744940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032727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846CE7D5-CF57-46EF-B807-FDD0502418D4}" type="datetimeFigureOut">
              <a:rPr lang="en-GB" smtClean="0"/>
              <a:t>25/03/2026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884724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25/03/2026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6698542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7E219896-AD66-973C-E773-63722ACBD79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905" b="7179"/>
          <a:stretch>
            <a:fillRect/>
          </a:stretch>
        </p:blipFill>
        <p:spPr>
          <a:xfrm>
            <a:off x="106681" y="22196"/>
            <a:ext cx="7121651" cy="3113573"/>
          </a:xfrm>
          <a:prstGeom prst="rect">
            <a:avLst/>
          </a:prstGeom>
        </p:spPr>
      </p:pic>
      <p:sp>
        <p:nvSpPr>
          <p:cNvPr id="9" name="TextBox 8">
            <a:extLst>
              <a:ext uri="{FF2B5EF4-FFF2-40B4-BE49-F238E27FC236}">
                <a16:creationId xmlns:a16="http://schemas.microsoft.com/office/drawing/2014/main" id="{BC78E63E-8264-E5EB-6DBF-8A2EB44964E5}"/>
              </a:ext>
            </a:extLst>
          </p:cNvPr>
          <p:cNvSpPr txBox="1"/>
          <p:nvPr/>
        </p:nvSpPr>
        <p:spPr>
          <a:xfrm>
            <a:off x="1014984" y="2675044"/>
            <a:ext cx="11216640" cy="830997"/>
          </a:xfrm>
          <a:prstGeom prst="rect">
            <a:avLst/>
          </a:prstGeom>
          <a:noFill/>
        </p:spPr>
        <p:txBody>
          <a:bodyPr wrap="square">
            <a:spAutoFit/>
          </a:bodyPr>
          <a:lstStyle/>
          <a:p>
            <a:pPr algn="ctr"/>
            <a:r>
              <a:rPr lang="en-US" sz="2400" b="1" i="1" dirty="0"/>
              <a:t>University of Hertfordshire School of Physics, Engineering and Computer Science</a:t>
            </a:r>
          </a:p>
        </p:txBody>
      </p:sp>
      <p:sp>
        <p:nvSpPr>
          <p:cNvPr id="14" name="TextBox 13">
            <a:extLst>
              <a:ext uri="{FF2B5EF4-FFF2-40B4-BE49-F238E27FC236}">
                <a16:creationId xmlns:a16="http://schemas.microsoft.com/office/drawing/2014/main" id="{54A9346B-F807-9F8F-C544-1119C6DF1C45}"/>
              </a:ext>
            </a:extLst>
          </p:cNvPr>
          <p:cNvSpPr txBox="1"/>
          <p:nvPr/>
        </p:nvSpPr>
        <p:spPr>
          <a:xfrm>
            <a:off x="1630680" y="3429000"/>
            <a:ext cx="5775960" cy="1200329"/>
          </a:xfrm>
          <a:prstGeom prst="rect">
            <a:avLst/>
          </a:prstGeom>
          <a:noFill/>
        </p:spPr>
        <p:txBody>
          <a:bodyPr wrap="square">
            <a:spAutoFit/>
          </a:bodyPr>
          <a:lstStyle/>
          <a:p>
            <a:r>
              <a:rPr lang="en-US" sz="2400" b="1" dirty="0"/>
              <a:t>Demonstration</a:t>
            </a:r>
            <a:br>
              <a:rPr lang="en-US" sz="2400" b="1" dirty="0"/>
            </a:br>
            <a:r>
              <a:rPr lang="en-US" sz="2400" b="1" dirty="0"/>
              <a:t>7PAM2002-0509-Data Science Project</a:t>
            </a:r>
            <a:br>
              <a:rPr lang="en-US" sz="2400" b="1" dirty="0"/>
            </a:br>
            <a:r>
              <a:rPr lang="en-US" sz="2400" b="1" dirty="0"/>
              <a:t>27-03-2026</a:t>
            </a:r>
          </a:p>
        </p:txBody>
      </p:sp>
      <p:sp>
        <p:nvSpPr>
          <p:cNvPr id="16" name="TextBox 15">
            <a:extLst>
              <a:ext uri="{FF2B5EF4-FFF2-40B4-BE49-F238E27FC236}">
                <a16:creationId xmlns:a16="http://schemas.microsoft.com/office/drawing/2014/main" id="{9FC5FB53-FA07-F94E-90A6-31F52426687C}"/>
              </a:ext>
            </a:extLst>
          </p:cNvPr>
          <p:cNvSpPr txBox="1"/>
          <p:nvPr/>
        </p:nvSpPr>
        <p:spPr>
          <a:xfrm>
            <a:off x="6873240" y="5003787"/>
            <a:ext cx="5120640" cy="1569660"/>
          </a:xfrm>
          <a:prstGeom prst="rect">
            <a:avLst/>
          </a:prstGeom>
          <a:noFill/>
        </p:spPr>
        <p:txBody>
          <a:bodyPr wrap="square" rtlCol="0">
            <a:spAutoFit/>
          </a:bodyPr>
          <a:lstStyle/>
          <a:p>
            <a:r>
              <a:rPr lang="en-US" sz="2400" b="1" dirty="0"/>
              <a:t>Student Full Name: Vishnu Vardhan Reddy Nallamaru</a:t>
            </a:r>
            <a:endParaRPr lang="en-US" sz="2400" dirty="0"/>
          </a:p>
          <a:p>
            <a:r>
              <a:rPr lang="en-US" sz="2400" b="1" dirty="0"/>
              <a:t>Student ID: 24057022</a:t>
            </a:r>
          </a:p>
          <a:p>
            <a:r>
              <a:rPr lang="en-US" sz="2400" b="1" dirty="0" err="1"/>
              <a:t>supervisior</a:t>
            </a:r>
            <a:r>
              <a:rPr lang="en-US" sz="2400" b="1" dirty="0"/>
              <a:t>: Vidas </a:t>
            </a:r>
            <a:r>
              <a:rPr lang="en-US" sz="2400" b="1" dirty="0" err="1"/>
              <a:t>Regelskis</a:t>
            </a:r>
            <a:endParaRPr lang="en-US" sz="2400" dirty="0"/>
          </a:p>
        </p:txBody>
      </p:sp>
    </p:spTree>
    <p:extLst>
      <p:ext uri="{BB962C8B-B14F-4D97-AF65-F5344CB8AC3E}">
        <p14:creationId xmlns:p14="http://schemas.microsoft.com/office/powerpoint/2010/main" val="2851948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ound Diagonal Corner of Rectangle 5">
            <a:extLst>
              <a:ext uri="{FF2B5EF4-FFF2-40B4-BE49-F238E27FC236}">
                <a16:creationId xmlns:a16="http://schemas.microsoft.com/office/drawing/2014/main" id="{A968D7B2-750A-83FF-8EA2-276945D6B487}"/>
              </a:ext>
            </a:extLst>
          </p:cNvPr>
          <p:cNvSpPr/>
          <p:nvPr/>
        </p:nvSpPr>
        <p:spPr>
          <a:xfrm>
            <a:off x="614363" y="371475"/>
            <a:ext cx="11072812" cy="5000625"/>
          </a:xfrm>
          <a:prstGeom prst="round2DiagRect">
            <a:avLst/>
          </a:prstGeom>
          <a:solidFill>
            <a:srgbClr val="0E9F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A59DB06D-03F6-19FB-E5F2-8812E8E20352}"/>
              </a:ext>
            </a:extLst>
          </p:cNvPr>
          <p:cNvSpPr/>
          <p:nvPr/>
        </p:nvSpPr>
        <p:spPr>
          <a:xfrm>
            <a:off x="1597819" y="1293337"/>
            <a:ext cx="9215438" cy="3300413"/>
          </a:xfrm>
          <a:prstGeom prst="roundRect">
            <a:avLst/>
          </a:prstGeom>
          <a:solidFill>
            <a:schemeClr val="bg1"/>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1543050" y="1306248"/>
            <a:ext cx="9144000" cy="3274592"/>
          </a:xfrm>
        </p:spPr>
        <p:txBody>
          <a:bodyPr anchor="ctr">
            <a:normAutofit/>
          </a:bodyPr>
          <a:lstStyle/>
          <a:p>
            <a:r>
              <a:rPr lang="en-US" sz="7200" dirty="0"/>
              <a:t>Lung Cancer Detection Using Deep Learning on CT Scan Images</a:t>
            </a:r>
            <a:endParaRPr lang="en-GB" sz="7200" dirty="0"/>
          </a:p>
        </p:txBody>
      </p:sp>
      <p:sp>
        <p:nvSpPr>
          <p:cNvPr id="9" name="TextBox 8">
            <a:extLst>
              <a:ext uri="{FF2B5EF4-FFF2-40B4-BE49-F238E27FC236}">
                <a16:creationId xmlns:a16="http://schemas.microsoft.com/office/drawing/2014/main" id="{77E4949D-5B48-949A-7CAA-CEB41E1423F3}"/>
              </a:ext>
            </a:extLst>
          </p:cNvPr>
          <p:cNvSpPr txBox="1"/>
          <p:nvPr/>
        </p:nvSpPr>
        <p:spPr>
          <a:xfrm>
            <a:off x="500064" y="5444564"/>
            <a:ext cx="10944224" cy="369332"/>
          </a:xfrm>
          <a:prstGeom prst="rect">
            <a:avLst/>
          </a:prstGeom>
          <a:noFill/>
        </p:spPr>
        <p:txBody>
          <a:bodyPr wrap="square" rtlCol="0">
            <a:spAutoFit/>
          </a:bodyPr>
          <a:lstStyle/>
          <a:p>
            <a:r>
              <a:rPr lang="en-GB" dirty="0">
                <a:solidFill>
                  <a:schemeClr val="bg1">
                    <a:lumMod val="50000"/>
                  </a:schemeClr>
                </a:solidFill>
              </a:rPr>
              <a:t>.</a:t>
            </a: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E2FE63-0649-8FF8-D438-FDF6DE861D7F}"/>
              </a:ext>
            </a:extLst>
          </p:cNvPr>
          <p:cNvSpPr/>
          <p:nvPr/>
        </p:nvSpPr>
        <p:spPr>
          <a:xfrm>
            <a:off x="29497" y="377311"/>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600" dirty="0"/>
              <a:t>  Project Introduction</a:t>
            </a:r>
          </a:p>
        </p:txBody>
      </p:sp>
      <p:sp>
        <p:nvSpPr>
          <p:cNvPr id="7" name="Delay 6">
            <a:extLst>
              <a:ext uri="{FF2B5EF4-FFF2-40B4-BE49-F238E27FC236}">
                <a16:creationId xmlns:a16="http://schemas.microsoft.com/office/drawing/2014/main" id="{1272B545-0C88-8D59-5F1A-A575CBB2D2F4}"/>
              </a:ext>
            </a:extLst>
          </p:cNvPr>
          <p:cNvSpPr/>
          <p:nvPr/>
        </p:nvSpPr>
        <p:spPr>
          <a:xfrm>
            <a:off x="9019560" y="377311"/>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1">
            <a:extLst>
              <a:ext uri="{FF2B5EF4-FFF2-40B4-BE49-F238E27FC236}">
                <a16:creationId xmlns:a16="http://schemas.microsoft.com/office/drawing/2014/main" id="{65BE605F-1311-B4CF-CE48-08C9FC9707BB}"/>
              </a:ext>
            </a:extLst>
          </p:cNvPr>
          <p:cNvSpPr>
            <a:spLocks noChangeArrowheads="1"/>
          </p:cNvSpPr>
          <p:nvPr/>
        </p:nvSpPr>
        <p:spPr bwMode="auto">
          <a:xfrm>
            <a:off x="0" y="1321326"/>
            <a:ext cx="11050006"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Lung cancer is one of the leading causes of cancer-related    deaths worldwide </a:t>
            </a: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Early detection significantly increases survival rates </a:t>
            </a:r>
          </a:p>
          <a:p>
            <a:pPr marL="457200" marR="0" lvl="0" indent="-45720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CT scan imaging is widely used for diagnosis </a:t>
            </a: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Deep learning can assist in automatic and accurate         detection</a:t>
            </a:r>
          </a:p>
        </p:txBody>
      </p:sp>
    </p:spTree>
    <p:extLst>
      <p:ext uri="{BB962C8B-B14F-4D97-AF65-F5344CB8AC3E}">
        <p14:creationId xmlns:p14="http://schemas.microsoft.com/office/powerpoint/2010/main" val="810549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4C0D8AC-C217-5C1B-FAA0-34197C0ECADF}"/>
              </a:ext>
            </a:extLst>
          </p:cNvPr>
          <p:cNvSpPr/>
          <p:nvPr/>
        </p:nvSpPr>
        <p:spPr>
          <a:xfrm>
            <a:off x="0" y="362052"/>
            <a:ext cx="9104671"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dirty="0"/>
              <a:t>  </a:t>
            </a:r>
          </a:p>
        </p:txBody>
      </p:sp>
      <p:sp>
        <p:nvSpPr>
          <p:cNvPr id="2" name="Title 1">
            <a:extLst>
              <a:ext uri="{FF2B5EF4-FFF2-40B4-BE49-F238E27FC236}">
                <a16:creationId xmlns:a16="http://schemas.microsoft.com/office/drawing/2014/main" id="{AEC99A93-3829-DF7C-084D-B7514EAC113A}"/>
              </a:ext>
            </a:extLst>
          </p:cNvPr>
          <p:cNvSpPr>
            <a:spLocks noGrp="1"/>
          </p:cNvSpPr>
          <p:nvPr>
            <p:ph type="title"/>
          </p:nvPr>
        </p:nvSpPr>
        <p:spPr>
          <a:xfrm>
            <a:off x="1" y="365124"/>
            <a:ext cx="6410632" cy="1211365"/>
          </a:xfrm>
        </p:spPr>
        <p:txBody>
          <a:bodyPr/>
          <a:lstStyle/>
          <a:p>
            <a:r>
              <a:rPr lang="en-US" sz="3600" dirty="0"/>
              <a:t> </a:t>
            </a:r>
            <a:r>
              <a:rPr lang="en-US" sz="3600" dirty="0">
                <a:solidFill>
                  <a:schemeClr val="bg1"/>
                </a:solidFill>
              </a:rPr>
              <a:t>Research</a:t>
            </a:r>
            <a:r>
              <a:rPr lang="en-US" sz="3600" dirty="0"/>
              <a:t> </a:t>
            </a:r>
            <a:r>
              <a:rPr lang="en-US" sz="3600" dirty="0">
                <a:solidFill>
                  <a:schemeClr val="bg1"/>
                </a:solidFill>
              </a:rPr>
              <a:t>Questions</a:t>
            </a:r>
            <a:r>
              <a:rPr lang="en-US" dirty="0"/>
              <a:t> </a:t>
            </a:r>
            <a:r>
              <a:rPr lang="en-US" dirty="0">
                <a:solidFill>
                  <a:schemeClr val="bg1"/>
                </a:solidFill>
              </a:rPr>
              <a:t>?</a:t>
            </a:r>
          </a:p>
        </p:txBody>
      </p:sp>
      <p:sp>
        <p:nvSpPr>
          <p:cNvPr id="3" name="Content Placeholder 2">
            <a:extLst>
              <a:ext uri="{FF2B5EF4-FFF2-40B4-BE49-F238E27FC236}">
                <a16:creationId xmlns:a16="http://schemas.microsoft.com/office/drawing/2014/main" id="{0CFCA735-A61C-7560-54DF-AA2B75E02FBA}"/>
              </a:ext>
            </a:extLst>
          </p:cNvPr>
          <p:cNvSpPr>
            <a:spLocks noGrp="1"/>
          </p:cNvSpPr>
          <p:nvPr>
            <p:ph idx="1"/>
          </p:nvPr>
        </p:nvSpPr>
        <p:spPr>
          <a:xfrm>
            <a:off x="317090" y="1845289"/>
            <a:ext cx="10515600" cy="4351338"/>
          </a:xfrm>
        </p:spPr>
        <p:txBody>
          <a:bodyPr/>
          <a:lstStyle/>
          <a:p>
            <a:pPr>
              <a:buFont typeface="Wingdings" panose="05000000000000000000" pitchFamily="2" charset="2"/>
              <a:buChar char="Ø"/>
            </a:pPr>
            <a:r>
              <a:rPr lang="en-US" dirty="0"/>
              <a:t>1.</a:t>
            </a:r>
            <a:r>
              <a:rPr lang="en-US" i="1" dirty="0"/>
              <a:t>Can deep learning models accurately detect and classify lung cancer (normal, benign, malignant) using CT scan images from the IQOTH/NCCD dataset?</a:t>
            </a:r>
            <a:r>
              <a:rPr lang="en-US" dirty="0"/>
              <a:t> </a:t>
            </a:r>
          </a:p>
          <a:p>
            <a:pPr lvl="0" fontAlgn="base">
              <a:buFont typeface="Wingdings" panose="05000000000000000000" pitchFamily="2" charset="2"/>
              <a:buChar char="Ø"/>
            </a:pPr>
            <a:r>
              <a:rPr lang="en-US" i="1" dirty="0"/>
              <a:t>2. deep learning architecture (CNN, transfer learning models, or advanced vision models) provides the highest accuracy and reliability for medical image classification?</a:t>
            </a:r>
            <a:r>
              <a:rPr lang="en-US" dirty="0"/>
              <a:t> </a:t>
            </a:r>
          </a:p>
          <a:p>
            <a:pPr lvl="0" fontAlgn="base">
              <a:buFont typeface="Wingdings" panose="05000000000000000000" pitchFamily="2" charset="2"/>
              <a:buChar char="Ø"/>
            </a:pPr>
            <a:r>
              <a:rPr lang="en-US" i="1" dirty="0"/>
              <a:t>3.How effectively can pre-processing and data augmentation techniques improve classification performance on limited medical imaging data?</a:t>
            </a:r>
            <a:r>
              <a:rPr lang="en-US" dirty="0"/>
              <a:t> </a:t>
            </a:r>
          </a:p>
          <a:p>
            <a:endParaRPr lang="en-US" dirty="0"/>
          </a:p>
        </p:txBody>
      </p:sp>
      <p:sp>
        <p:nvSpPr>
          <p:cNvPr id="7" name="Delay 6">
            <a:extLst>
              <a:ext uri="{FF2B5EF4-FFF2-40B4-BE49-F238E27FC236}">
                <a16:creationId xmlns:a16="http://schemas.microsoft.com/office/drawing/2014/main" id="{5A5C916C-3669-0905-D0A4-9589CDEFA149}"/>
              </a:ext>
            </a:extLst>
          </p:cNvPr>
          <p:cNvSpPr/>
          <p:nvPr/>
        </p:nvSpPr>
        <p:spPr>
          <a:xfrm>
            <a:off x="8849032" y="362051"/>
            <a:ext cx="1474840" cy="1211365"/>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23458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81B69-5D9F-C08B-AEC9-1068AD50AFFA}"/>
              </a:ext>
            </a:extLst>
          </p:cNvPr>
          <p:cNvSpPr>
            <a:spLocks noGrp="1"/>
          </p:cNvSpPr>
          <p:nvPr>
            <p:ph type="title"/>
          </p:nvPr>
        </p:nvSpPr>
        <p:spPr>
          <a:xfrm>
            <a:off x="488404" y="381282"/>
            <a:ext cx="9942716" cy="1554480"/>
          </a:xfrm>
        </p:spPr>
        <p:txBody>
          <a:bodyPr anchor="ctr">
            <a:normAutofit/>
          </a:bodyPr>
          <a:lstStyle/>
          <a:p>
            <a:r>
              <a:rPr lang="en-GB" sz="4800" dirty="0"/>
              <a:t>Problem Statement</a:t>
            </a:r>
            <a:endParaRPr lang="en-US" sz="4800" dirty="0"/>
          </a:p>
        </p:txBody>
      </p:sp>
      <p:sp>
        <p:nvSpPr>
          <p:cNvPr id="9" name="Rectangle 1">
            <a:extLst>
              <a:ext uri="{FF2B5EF4-FFF2-40B4-BE49-F238E27FC236}">
                <a16:creationId xmlns:a16="http://schemas.microsoft.com/office/drawing/2014/main" id="{E77DE56F-3487-40A2-B203-22130A2190E0}"/>
              </a:ext>
            </a:extLst>
          </p:cNvPr>
          <p:cNvSpPr>
            <a:spLocks noChangeArrowheads="1"/>
          </p:cNvSpPr>
          <p:nvPr/>
        </p:nvSpPr>
        <p:spPr bwMode="auto">
          <a:xfrm>
            <a:off x="367645" y="1308993"/>
            <a:ext cx="1133595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Manual analysis of CT scans is time-consuming and complex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Requires highly skilled radiologists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Risk of human error and misclassification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Class imbalance in medical datasets affects model performance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Need for an automated, accurate, and reliable detection system</a:t>
            </a:r>
          </a:p>
        </p:txBody>
      </p:sp>
      <p:sp>
        <p:nvSpPr>
          <p:cNvPr id="4" name="Delay 6">
            <a:extLst>
              <a:ext uri="{FF2B5EF4-FFF2-40B4-BE49-F238E27FC236}">
                <a16:creationId xmlns:a16="http://schemas.microsoft.com/office/drawing/2014/main" id="{4BD0A99B-1547-638B-8E67-3BAE50666FD7}"/>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9906C247-D8EE-EFF6-30C3-C902C5955828}"/>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600" dirty="0"/>
              <a:t>   Problem Statement</a:t>
            </a:r>
          </a:p>
        </p:txBody>
      </p:sp>
    </p:spTree>
    <p:extLst>
      <p:ext uri="{BB962C8B-B14F-4D97-AF65-F5344CB8AC3E}">
        <p14:creationId xmlns:p14="http://schemas.microsoft.com/office/powerpoint/2010/main" val="3460855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8D9EF8-8163-2E1D-8AB6-FFD88C3162A7}"/>
            </a:ext>
          </a:extLst>
        </p:cNvPr>
        <p:cNvGrpSpPr/>
        <p:nvPr/>
      </p:nvGrpSpPr>
      <p:grpSpPr>
        <a:xfrm>
          <a:off x="0" y="0"/>
          <a:ext cx="0" cy="0"/>
          <a:chOff x="0" y="0"/>
          <a:chExt cx="0" cy="0"/>
        </a:xfrm>
      </p:grpSpPr>
      <p:sp>
        <p:nvSpPr>
          <p:cNvPr id="11" name="Rectangle 2">
            <a:extLst>
              <a:ext uri="{FF2B5EF4-FFF2-40B4-BE49-F238E27FC236}">
                <a16:creationId xmlns:a16="http://schemas.microsoft.com/office/drawing/2014/main" id="{0B0B93E7-70BA-A988-1F2B-BE0591894DB4}"/>
              </a:ext>
            </a:extLst>
          </p:cNvPr>
          <p:cNvSpPr>
            <a:spLocks noChangeArrowheads="1"/>
          </p:cNvSpPr>
          <p:nvPr/>
        </p:nvSpPr>
        <p:spPr bwMode="auto">
          <a:xfrm>
            <a:off x="320508" y="1410307"/>
            <a:ext cx="1155098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To develop a </a:t>
            </a:r>
            <a:r>
              <a:rPr kumimoji="0" lang="en-US" altLang="en-US" sz="3200" b="1" i="0" u="none" strike="noStrike" cap="none" normalizeH="0" baseline="0" dirty="0">
                <a:ln>
                  <a:noFill/>
                </a:ln>
                <a:solidFill>
                  <a:schemeClr val="tx1"/>
                </a:solidFill>
                <a:effectLst/>
                <a:latin typeface="Arial" panose="020B0604020202020204" pitchFamily="34" charset="0"/>
              </a:rPr>
              <a:t>deep learning </a:t>
            </a:r>
            <a:r>
              <a:rPr kumimoji="0" lang="en-US" altLang="en-US" sz="3200" b="0" i="0" u="none" strike="noStrike" cap="none" normalizeH="0" baseline="0" dirty="0">
                <a:ln>
                  <a:noFill/>
                </a:ln>
                <a:solidFill>
                  <a:schemeClr val="tx1"/>
                </a:solidFill>
                <a:effectLst/>
                <a:latin typeface="Arial" panose="020B0604020202020204" pitchFamily="34" charset="0"/>
              </a:rPr>
              <a:t>model for lung cancer detection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To classify CT scan images into: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Benign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Malignant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Normal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To handle </a:t>
            </a:r>
            <a:r>
              <a:rPr kumimoji="0" lang="en-US" altLang="en-US" sz="3200" b="1" i="0" u="none" strike="noStrike" cap="none" normalizeH="0" baseline="0" dirty="0">
                <a:ln>
                  <a:noFill/>
                </a:ln>
                <a:solidFill>
                  <a:schemeClr val="tx1"/>
                </a:solidFill>
                <a:effectLst/>
                <a:latin typeface="Arial" panose="020B0604020202020204" pitchFamily="34" charset="0"/>
              </a:rPr>
              <a:t>class imbalance </a:t>
            </a:r>
            <a:r>
              <a:rPr kumimoji="0" lang="en-US" altLang="en-US" sz="3200" b="0" i="0" u="none" strike="noStrike" cap="none" normalizeH="0" baseline="0" dirty="0">
                <a:ln>
                  <a:noFill/>
                </a:ln>
                <a:solidFill>
                  <a:schemeClr val="tx1"/>
                </a:solidFill>
                <a:effectLst/>
                <a:latin typeface="Arial" panose="020B0604020202020204" pitchFamily="34" charset="0"/>
              </a:rPr>
              <a:t>using class weights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To compare the performance of multiple models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To identify the most effective model for accurate diagnosis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Delay 6">
            <a:extLst>
              <a:ext uri="{FF2B5EF4-FFF2-40B4-BE49-F238E27FC236}">
                <a16:creationId xmlns:a16="http://schemas.microsoft.com/office/drawing/2014/main" id="{FF6139FB-0240-B34C-18C0-375B96A33686}"/>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30966E83-DB8A-CE4F-4DE9-E6F310C5A245}"/>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   Objectives</a:t>
            </a:r>
            <a:endParaRPr lang="en-GB" sz="3600" dirty="0"/>
          </a:p>
        </p:txBody>
      </p:sp>
    </p:spTree>
    <p:extLst>
      <p:ext uri="{BB962C8B-B14F-4D97-AF65-F5344CB8AC3E}">
        <p14:creationId xmlns:p14="http://schemas.microsoft.com/office/powerpoint/2010/main" val="3799164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331D6-0A41-A245-FC28-23F7480C6A4E}"/>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3" name="TextBox 2">
            <a:extLst>
              <a:ext uri="{FF2B5EF4-FFF2-40B4-BE49-F238E27FC236}">
                <a16:creationId xmlns:a16="http://schemas.microsoft.com/office/drawing/2014/main" id="{653D6AB9-1B0F-E13C-34D3-8FDAEF8024C2}"/>
              </a:ext>
            </a:extLst>
          </p:cNvPr>
          <p:cNvSpPr txBox="1"/>
          <p:nvPr/>
        </p:nvSpPr>
        <p:spPr>
          <a:xfrm>
            <a:off x="106052" y="653325"/>
            <a:ext cx="6094428" cy="707886"/>
          </a:xfrm>
          <a:prstGeom prst="rect">
            <a:avLst/>
          </a:prstGeom>
          <a:noFill/>
        </p:spPr>
        <p:txBody>
          <a:bodyPr wrap="square">
            <a:spAutoFit/>
          </a:bodyPr>
          <a:lstStyle/>
          <a:p>
            <a:r>
              <a:rPr lang="en-IN" sz="4000" dirty="0">
                <a:solidFill>
                  <a:schemeClr val="bg1"/>
                </a:solidFill>
              </a:rPr>
              <a:t>Dataset Overview</a:t>
            </a:r>
          </a:p>
        </p:txBody>
      </p:sp>
      <p:sp>
        <p:nvSpPr>
          <p:cNvPr id="4" name="Rectangle 1">
            <a:extLst>
              <a:ext uri="{FF2B5EF4-FFF2-40B4-BE49-F238E27FC236}">
                <a16:creationId xmlns:a16="http://schemas.microsoft.com/office/drawing/2014/main" id="{EFB6061C-8201-BE5B-1036-08160AE26ABA}"/>
              </a:ext>
            </a:extLst>
          </p:cNvPr>
          <p:cNvSpPr>
            <a:spLocks noChangeArrowheads="1"/>
          </p:cNvSpPr>
          <p:nvPr/>
        </p:nvSpPr>
        <p:spPr bwMode="auto">
          <a:xfrm>
            <a:off x="6306532" y="1258510"/>
            <a:ext cx="526958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Dataset: IQ-OTH/NCCD Lung Cancer Dataset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Data type: CT scan images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Total classes: 3 (Benign, Malignant, Normal)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Images labelled by medical experts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3200" b="0" i="0" u="none" strike="noStrike" cap="none" normalizeH="0" baseline="0" dirty="0">
                <a:ln>
                  <a:noFill/>
                </a:ln>
                <a:solidFill>
                  <a:schemeClr val="tx1"/>
                </a:solidFill>
                <a:effectLst/>
                <a:latin typeface="Arial" panose="020B0604020202020204" pitchFamily="34" charset="0"/>
              </a:rPr>
              <a:t>Dataset contains class imbalance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3075" name="Picture 3">
            <a:extLst>
              <a:ext uri="{FF2B5EF4-FFF2-40B4-BE49-F238E27FC236}">
                <a16:creationId xmlns:a16="http://schemas.microsoft.com/office/drawing/2014/main" id="{FC77B07A-BA97-FB95-2C78-2F911BD13B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687" y="1628776"/>
            <a:ext cx="6060845" cy="4829175"/>
          </a:xfrm>
          <a:prstGeom prst="rect">
            <a:avLst/>
          </a:prstGeom>
          <a:noFill/>
          <a:extLst>
            <a:ext uri="{909E8E84-426E-40DD-AFC4-6F175D3DCCD1}">
              <a14:hiddenFill xmlns:a14="http://schemas.microsoft.com/office/drawing/2010/main">
                <a:solidFill>
                  <a:srgbClr val="FFFFFF"/>
                </a:solidFill>
              </a14:hiddenFill>
            </a:ext>
          </a:extLst>
        </p:spPr>
      </p:pic>
      <p:sp>
        <p:nvSpPr>
          <p:cNvPr id="2" name="Delay 6">
            <a:extLst>
              <a:ext uri="{FF2B5EF4-FFF2-40B4-BE49-F238E27FC236}">
                <a16:creationId xmlns:a16="http://schemas.microsoft.com/office/drawing/2014/main" id="{28814245-7637-50DD-D1FF-AFB1CEEE3D00}"/>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62336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E40D76D-DA21-8665-302A-21537990FFBC}"/>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11" name="TextBox 10">
            <a:extLst>
              <a:ext uri="{FF2B5EF4-FFF2-40B4-BE49-F238E27FC236}">
                <a16:creationId xmlns:a16="http://schemas.microsoft.com/office/drawing/2014/main" id="{1D42F6C1-FF0B-D000-9E98-C419AD213406}"/>
              </a:ext>
            </a:extLst>
          </p:cNvPr>
          <p:cNvSpPr txBox="1"/>
          <p:nvPr/>
        </p:nvSpPr>
        <p:spPr>
          <a:xfrm>
            <a:off x="137198" y="684102"/>
            <a:ext cx="6094070" cy="646331"/>
          </a:xfrm>
          <a:prstGeom prst="rect">
            <a:avLst/>
          </a:prstGeom>
          <a:noFill/>
        </p:spPr>
        <p:txBody>
          <a:bodyPr wrap="square">
            <a:spAutoFit/>
          </a:bodyPr>
          <a:lstStyle/>
          <a:p>
            <a:r>
              <a:rPr lang="en-US" sz="3600" dirty="0">
                <a:solidFill>
                  <a:schemeClr val="bg1"/>
                </a:solidFill>
              </a:rPr>
              <a:t>M</a:t>
            </a:r>
            <a:r>
              <a:rPr lang="en-IN" sz="3600" dirty="0" err="1">
                <a:solidFill>
                  <a:schemeClr val="bg1"/>
                </a:solidFill>
              </a:rPr>
              <a:t>ethodology</a:t>
            </a:r>
            <a:endParaRPr lang="en-IN" sz="3600" dirty="0">
              <a:solidFill>
                <a:schemeClr val="bg1"/>
              </a:solidFill>
            </a:endParaRPr>
          </a:p>
        </p:txBody>
      </p:sp>
      <p:sp>
        <p:nvSpPr>
          <p:cNvPr id="14" name="Delay 6">
            <a:extLst>
              <a:ext uri="{FF2B5EF4-FFF2-40B4-BE49-F238E27FC236}">
                <a16:creationId xmlns:a16="http://schemas.microsoft.com/office/drawing/2014/main" id="{1ACF0690-BFD0-C186-5D3A-01CAAD3ECE33}"/>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a:extLst>
              <a:ext uri="{FF2B5EF4-FFF2-40B4-BE49-F238E27FC236}">
                <a16:creationId xmlns:a16="http://schemas.microsoft.com/office/drawing/2014/main" id="{B6029516-B2F1-33C2-1171-CEFDDA21005E}"/>
              </a:ext>
            </a:extLst>
          </p:cNvPr>
          <p:cNvPicPr>
            <a:picLocks noChangeAspect="1"/>
          </p:cNvPicPr>
          <p:nvPr/>
        </p:nvPicPr>
        <p:blipFill>
          <a:blip r:embed="rId2"/>
          <a:stretch>
            <a:fillRect/>
          </a:stretch>
        </p:blipFill>
        <p:spPr>
          <a:xfrm>
            <a:off x="4428548" y="1727366"/>
            <a:ext cx="7407282" cy="3101609"/>
          </a:xfrm>
          <a:prstGeom prst="rect">
            <a:avLst/>
          </a:prstGeom>
        </p:spPr>
      </p:pic>
      <p:sp>
        <p:nvSpPr>
          <p:cNvPr id="8" name="TextBox 7">
            <a:extLst>
              <a:ext uri="{FF2B5EF4-FFF2-40B4-BE49-F238E27FC236}">
                <a16:creationId xmlns:a16="http://schemas.microsoft.com/office/drawing/2014/main" id="{F4B77232-1B1D-5463-1F7A-444C60A977B0}"/>
              </a:ext>
            </a:extLst>
          </p:cNvPr>
          <p:cNvSpPr txBox="1"/>
          <p:nvPr/>
        </p:nvSpPr>
        <p:spPr>
          <a:xfrm>
            <a:off x="160256" y="2234153"/>
            <a:ext cx="4166647" cy="3693319"/>
          </a:xfrm>
          <a:prstGeom prst="rect">
            <a:avLst/>
          </a:prstGeom>
          <a:noFill/>
        </p:spPr>
        <p:txBody>
          <a:bodyPr wrap="square" rtlCol="0">
            <a:spAutoFit/>
          </a:bodyPr>
          <a:lstStyle/>
          <a:p>
            <a:r>
              <a:rPr lang="en-IN" b="1" dirty="0"/>
              <a:t>Project Workflow:</a:t>
            </a:r>
            <a:endParaRPr lang="en-IN" dirty="0"/>
          </a:p>
          <a:p>
            <a:r>
              <a:rPr lang="en-IN" dirty="0"/>
              <a:t>1. Dataset collection </a:t>
            </a:r>
          </a:p>
          <a:p>
            <a:r>
              <a:rPr lang="en-IN" dirty="0"/>
              <a:t>2. Image preprocessing </a:t>
            </a:r>
          </a:p>
          <a:p>
            <a:r>
              <a:rPr lang="en-IN" dirty="0"/>
              <a:t>3. Class imbalance handling </a:t>
            </a:r>
          </a:p>
          <a:p>
            <a:r>
              <a:rPr lang="en-IN" dirty="0"/>
              <a:t>4. Model development </a:t>
            </a:r>
          </a:p>
          <a:p>
            <a:pPr lvl="1"/>
            <a:r>
              <a:rPr lang="en-IN" dirty="0"/>
              <a:t>-&gt; Baseline CNN </a:t>
            </a:r>
          </a:p>
          <a:p>
            <a:pPr lvl="1"/>
            <a:r>
              <a:rPr lang="en-IN" dirty="0"/>
              <a:t>-&gt; Improved CNN </a:t>
            </a:r>
          </a:p>
          <a:p>
            <a:pPr lvl="1"/>
            <a:r>
              <a:rPr lang="en-IN" dirty="0"/>
              <a:t>-&gt; ResNet18 </a:t>
            </a:r>
          </a:p>
          <a:p>
            <a:r>
              <a:rPr lang="en-IN" dirty="0"/>
              <a:t>5. Model evaluation </a:t>
            </a:r>
          </a:p>
          <a:p>
            <a:pPr lvl="1"/>
            <a:r>
              <a:rPr lang="en-IN" dirty="0"/>
              <a:t>-&gt; Accuracy </a:t>
            </a:r>
          </a:p>
          <a:p>
            <a:pPr lvl="1"/>
            <a:r>
              <a:rPr lang="en-IN" dirty="0"/>
              <a:t>-&gt; Confusion Matrix </a:t>
            </a:r>
          </a:p>
          <a:p>
            <a:pPr lvl="1"/>
            <a:r>
              <a:rPr lang="en-IN" dirty="0"/>
              <a:t>-&gt; Classification Report</a:t>
            </a:r>
          </a:p>
          <a:p>
            <a:endParaRPr lang="en-IN" dirty="0"/>
          </a:p>
        </p:txBody>
      </p:sp>
    </p:spTree>
    <p:extLst>
      <p:ext uri="{BB962C8B-B14F-4D97-AF65-F5344CB8AC3E}">
        <p14:creationId xmlns:p14="http://schemas.microsoft.com/office/powerpoint/2010/main" val="3016109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1BF6BD-A937-C911-7517-F406278955EE}"/>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4" name="Delay 6">
            <a:extLst>
              <a:ext uri="{FF2B5EF4-FFF2-40B4-BE49-F238E27FC236}">
                <a16:creationId xmlns:a16="http://schemas.microsoft.com/office/drawing/2014/main" id="{040F59B2-2649-1C11-20AD-65A5DA209884}"/>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29791423-6963-1B00-D45E-296DE0E9C56A}"/>
              </a:ext>
            </a:extLst>
          </p:cNvPr>
          <p:cNvSpPr txBox="1"/>
          <p:nvPr/>
        </p:nvSpPr>
        <p:spPr>
          <a:xfrm>
            <a:off x="152400" y="688124"/>
            <a:ext cx="10197445" cy="646331"/>
          </a:xfrm>
          <a:prstGeom prst="rect">
            <a:avLst/>
          </a:prstGeom>
          <a:noFill/>
        </p:spPr>
        <p:txBody>
          <a:bodyPr wrap="square">
            <a:spAutoFit/>
          </a:bodyPr>
          <a:lstStyle/>
          <a:p>
            <a:r>
              <a:rPr lang="en-IN" sz="3600" dirty="0">
                <a:solidFill>
                  <a:schemeClr val="bg1"/>
                </a:solidFill>
              </a:rPr>
              <a:t>Data Preprocessing &amp; Class Imbalance</a:t>
            </a:r>
          </a:p>
        </p:txBody>
      </p:sp>
      <p:sp>
        <p:nvSpPr>
          <p:cNvPr id="5" name="TextBox 4">
            <a:extLst>
              <a:ext uri="{FF2B5EF4-FFF2-40B4-BE49-F238E27FC236}">
                <a16:creationId xmlns:a16="http://schemas.microsoft.com/office/drawing/2014/main" id="{D59EE989-851E-2E89-75D6-608F75084D61}"/>
              </a:ext>
            </a:extLst>
          </p:cNvPr>
          <p:cNvSpPr txBox="1"/>
          <p:nvPr/>
        </p:nvSpPr>
        <p:spPr>
          <a:xfrm>
            <a:off x="435871" y="1902562"/>
            <a:ext cx="6094428" cy="4524315"/>
          </a:xfrm>
          <a:prstGeom prst="rect">
            <a:avLst/>
          </a:prstGeom>
          <a:noFill/>
        </p:spPr>
        <p:txBody>
          <a:bodyPr wrap="square">
            <a:spAutoFit/>
          </a:bodyPr>
          <a:lstStyle/>
          <a:p>
            <a:pPr>
              <a:buNone/>
            </a:pPr>
            <a:r>
              <a:rPr lang="en-IN" sz="3200" b="1" dirty="0">
                <a:solidFill>
                  <a:srgbClr val="00B050"/>
                </a:solidFill>
              </a:rPr>
              <a:t>Preprocessing Steps:</a:t>
            </a:r>
            <a:endParaRPr lang="en-IN" sz="3200" dirty="0">
              <a:solidFill>
                <a:srgbClr val="00B050"/>
              </a:solidFill>
            </a:endParaRPr>
          </a:p>
          <a:p>
            <a:pPr marL="457200" indent="-457200">
              <a:buFont typeface="Wingdings" panose="05000000000000000000" pitchFamily="2" charset="2"/>
              <a:buChar char="Ø"/>
            </a:pPr>
            <a:r>
              <a:rPr lang="en-IN" sz="3200" dirty="0"/>
              <a:t>Images resized based on model requirements: </a:t>
            </a:r>
          </a:p>
          <a:p>
            <a:pPr marL="914400" lvl="1" indent="-457200">
              <a:buFont typeface="Arial" panose="020B0604020202020204" pitchFamily="34" charset="0"/>
              <a:buChar char="•"/>
            </a:pPr>
            <a:r>
              <a:rPr lang="en-IN" sz="3200" b="1" dirty="0"/>
              <a:t>120×120</a:t>
            </a:r>
            <a:r>
              <a:rPr lang="en-IN" sz="3200" dirty="0"/>
              <a:t> → Baseline CNN </a:t>
            </a:r>
          </a:p>
          <a:p>
            <a:pPr marL="914400" lvl="1" indent="-457200">
              <a:buFont typeface="Arial" panose="020B0604020202020204" pitchFamily="34" charset="0"/>
              <a:buChar char="•"/>
            </a:pPr>
            <a:r>
              <a:rPr lang="en-IN" sz="3200" b="1" dirty="0"/>
              <a:t>160×160</a:t>
            </a:r>
            <a:r>
              <a:rPr lang="en-IN" sz="3200" dirty="0"/>
              <a:t> → Improved CNN </a:t>
            </a:r>
          </a:p>
          <a:p>
            <a:pPr marL="914400" lvl="1" indent="-457200">
              <a:buFont typeface="Arial" panose="020B0604020202020204" pitchFamily="34" charset="0"/>
              <a:buChar char="•"/>
            </a:pPr>
            <a:r>
              <a:rPr lang="en-IN" sz="3200" b="1" dirty="0"/>
              <a:t>224×224</a:t>
            </a:r>
            <a:r>
              <a:rPr lang="en-IN" sz="3200" dirty="0"/>
              <a:t> → </a:t>
            </a:r>
            <a:r>
              <a:rPr lang="en-IN" sz="3200" dirty="0" err="1"/>
              <a:t>ResNet</a:t>
            </a:r>
            <a:r>
              <a:rPr lang="en-IN" sz="3200" dirty="0"/>
              <a:t> </a:t>
            </a:r>
          </a:p>
          <a:p>
            <a:pPr marL="457200" indent="-457200">
              <a:buFont typeface="Wingdings" panose="05000000000000000000" pitchFamily="2" charset="2"/>
              <a:buChar char="Ø"/>
            </a:pPr>
            <a:r>
              <a:rPr lang="en-IN" sz="3200" dirty="0"/>
              <a:t>Pixel values normalized </a:t>
            </a:r>
          </a:p>
          <a:p>
            <a:pPr marL="457200" indent="-457200">
              <a:buFont typeface="Wingdings" panose="05000000000000000000" pitchFamily="2" charset="2"/>
              <a:buChar char="Ø"/>
            </a:pPr>
            <a:r>
              <a:rPr lang="en-IN" sz="3200" dirty="0"/>
              <a:t>Train–validation split performed</a:t>
            </a:r>
          </a:p>
        </p:txBody>
      </p:sp>
    </p:spTree>
    <p:extLst>
      <p:ext uri="{BB962C8B-B14F-4D97-AF65-F5344CB8AC3E}">
        <p14:creationId xmlns:p14="http://schemas.microsoft.com/office/powerpoint/2010/main" val="141759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17230-0147-E4AE-F3F9-0960BA9102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9969123-E3F3-B6F7-C85E-6B7A3D673A5C}"/>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4" name="Delay 6">
            <a:extLst>
              <a:ext uri="{FF2B5EF4-FFF2-40B4-BE49-F238E27FC236}">
                <a16:creationId xmlns:a16="http://schemas.microsoft.com/office/drawing/2014/main" id="{4961F551-B3B5-8DDC-9C03-A615D54ADCB7}"/>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8A678420-2D7A-265A-DD27-D95E3668033A}"/>
              </a:ext>
            </a:extLst>
          </p:cNvPr>
          <p:cNvSpPr txBox="1"/>
          <p:nvPr/>
        </p:nvSpPr>
        <p:spPr>
          <a:xfrm>
            <a:off x="137160" y="688124"/>
            <a:ext cx="10197445" cy="646331"/>
          </a:xfrm>
          <a:prstGeom prst="rect">
            <a:avLst/>
          </a:prstGeom>
          <a:noFill/>
        </p:spPr>
        <p:txBody>
          <a:bodyPr wrap="square">
            <a:spAutoFit/>
          </a:bodyPr>
          <a:lstStyle/>
          <a:p>
            <a:r>
              <a:rPr lang="en-IN" sz="3600" dirty="0">
                <a:solidFill>
                  <a:schemeClr val="bg1"/>
                </a:solidFill>
              </a:rPr>
              <a:t>Data Preprocessing &amp; Class Imbalance</a:t>
            </a:r>
          </a:p>
        </p:txBody>
      </p:sp>
      <p:sp>
        <p:nvSpPr>
          <p:cNvPr id="7" name="TextBox 6">
            <a:extLst>
              <a:ext uri="{FF2B5EF4-FFF2-40B4-BE49-F238E27FC236}">
                <a16:creationId xmlns:a16="http://schemas.microsoft.com/office/drawing/2014/main" id="{4672FA88-436A-C005-FEAC-08000E6913C5}"/>
              </a:ext>
            </a:extLst>
          </p:cNvPr>
          <p:cNvSpPr txBox="1"/>
          <p:nvPr/>
        </p:nvSpPr>
        <p:spPr>
          <a:xfrm>
            <a:off x="253181" y="1902562"/>
            <a:ext cx="6094428" cy="4524315"/>
          </a:xfrm>
          <a:prstGeom prst="rect">
            <a:avLst/>
          </a:prstGeom>
          <a:noFill/>
        </p:spPr>
        <p:txBody>
          <a:bodyPr wrap="square">
            <a:spAutoFit/>
          </a:bodyPr>
          <a:lstStyle/>
          <a:p>
            <a:pPr>
              <a:buNone/>
            </a:pPr>
            <a:r>
              <a:rPr lang="en-US" sz="3200" b="1" dirty="0">
                <a:solidFill>
                  <a:srgbClr val="FF0000"/>
                </a:solidFill>
              </a:rPr>
              <a:t>Handling Class Imbalance:</a:t>
            </a:r>
            <a:endParaRPr lang="en-US" sz="3200" dirty="0">
              <a:solidFill>
                <a:srgbClr val="FF0000"/>
              </a:solidFill>
            </a:endParaRPr>
          </a:p>
          <a:p>
            <a:pPr marL="457200" indent="-457200">
              <a:buFont typeface="Wingdings" panose="05000000000000000000" pitchFamily="2" charset="2"/>
              <a:buChar char="Ø"/>
            </a:pPr>
            <a:r>
              <a:rPr lang="en-US" sz="3200" dirty="0"/>
              <a:t>Applied </a:t>
            </a:r>
            <a:r>
              <a:rPr lang="en-US" sz="3200" b="1" dirty="0"/>
              <a:t>class weights</a:t>
            </a:r>
            <a:r>
              <a:rPr lang="en-US" sz="3200" dirty="0"/>
              <a:t> during training </a:t>
            </a:r>
          </a:p>
          <a:p>
            <a:pPr marL="457200" indent="-457200">
              <a:buFont typeface="Wingdings" panose="05000000000000000000" pitchFamily="2" charset="2"/>
              <a:buChar char="Ø"/>
            </a:pPr>
            <a:r>
              <a:rPr lang="en-US" sz="3200" dirty="0"/>
              <a:t>Higher weight assigned to minority class </a:t>
            </a:r>
          </a:p>
          <a:p>
            <a:pPr marL="457200" indent="-457200">
              <a:buFont typeface="Wingdings" panose="05000000000000000000" pitchFamily="2" charset="2"/>
              <a:buChar char="Ø"/>
            </a:pPr>
            <a:r>
              <a:rPr lang="en-US" sz="3200" b="1" dirty="0"/>
              <a:t>Class Weights:</a:t>
            </a:r>
            <a:endParaRPr lang="en-US" sz="3200" dirty="0"/>
          </a:p>
          <a:p>
            <a:pPr marL="457200" indent="-457200">
              <a:buFont typeface="Wingdings" panose="05000000000000000000" pitchFamily="2" charset="2"/>
              <a:buChar char="Ø"/>
            </a:pPr>
            <a:r>
              <a:rPr lang="en-US" sz="3200" dirty="0"/>
              <a:t>Benign: </a:t>
            </a:r>
            <a:r>
              <a:rPr lang="en-US" sz="3200" b="1" dirty="0"/>
              <a:t>9.14</a:t>
            </a:r>
            <a:r>
              <a:rPr lang="en-US" sz="3200" dirty="0"/>
              <a:t> </a:t>
            </a:r>
          </a:p>
          <a:p>
            <a:pPr marL="457200" indent="-457200">
              <a:buFont typeface="Wingdings" panose="05000000000000000000" pitchFamily="2" charset="2"/>
              <a:buChar char="Ø"/>
            </a:pPr>
            <a:r>
              <a:rPr lang="en-US" sz="3200" dirty="0"/>
              <a:t>Malignant: </a:t>
            </a:r>
            <a:r>
              <a:rPr lang="en-US" sz="3200" b="1" dirty="0"/>
              <a:t>1.95</a:t>
            </a:r>
            <a:r>
              <a:rPr lang="en-US" sz="3200" dirty="0"/>
              <a:t> </a:t>
            </a:r>
          </a:p>
          <a:p>
            <a:pPr marL="457200" indent="-457200">
              <a:buFont typeface="Wingdings" panose="05000000000000000000" pitchFamily="2" charset="2"/>
              <a:buChar char="Ø"/>
            </a:pPr>
            <a:r>
              <a:rPr lang="en-US" sz="3200" dirty="0"/>
              <a:t>Normal: </a:t>
            </a:r>
            <a:r>
              <a:rPr lang="en-US" sz="3200" b="1" dirty="0"/>
              <a:t>2.63</a:t>
            </a:r>
            <a:endParaRPr lang="en-US" sz="3200" dirty="0"/>
          </a:p>
        </p:txBody>
      </p:sp>
    </p:spTree>
    <p:extLst>
      <p:ext uri="{BB962C8B-B14F-4D97-AF65-F5344CB8AC3E}">
        <p14:creationId xmlns:p14="http://schemas.microsoft.com/office/powerpoint/2010/main" val="1334064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83535A-F632-EC97-9092-DF9989F45B8E}"/>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3" name="TextBox 2">
            <a:extLst>
              <a:ext uri="{FF2B5EF4-FFF2-40B4-BE49-F238E27FC236}">
                <a16:creationId xmlns:a16="http://schemas.microsoft.com/office/drawing/2014/main" id="{F0185C77-EEF4-81EA-578F-24BBF0429986}"/>
              </a:ext>
            </a:extLst>
          </p:cNvPr>
          <p:cNvSpPr txBox="1"/>
          <p:nvPr/>
        </p:nvSpPr>
        <p:spPr>
          <a:xfrm>
            <a:off x="491119" y="714880"/>
            <a:ext cx="6094428" cy="646331"/>
          </a:xfrm>
          <a:prstGeom prst="rect">
            <a:avLst/>
          </a:prstGeom>
          <a:noFill/>
        </p:spPr>
        <p:txBody>
          <a:bodyPr wrap="square">
            <a:spAutoFit/>
          </a:bodyPr>
          <a:lstStyle/>
          <a:p>
            <a:pPr>
              <a:buNone/>
            </a:pPr>
            <a:r>
              <a:rPr lang="en-IN" sz="3600" b="1" dirty="0">
                <a:solidFill>
                  <a:schemeClr val="bg1"/>
                </a:solidFill>
              </a:rPr>
              <a:t>Model</a:t>
            </a:r>
            <a:r>
              <a:rPr lang="en-IN" sz="3200" b="1" dirty="0">
                <a:solidFill>
                  <a:schemeClr val="bg1"/>
                </a:solidFill>
              </a:rPr>
              <a:t> 1 – Baseline CNN</a:t>
            </a:r>
          </a:p>
        </p:txBody>
      </p:sp>
      <p:sp>
        <p:nvSpPr>
          <p:cNvPr id="5" name="TextBox 4">
            <a:extLst>
              <a:ext uri="{FF2B5EF4-FFF2-40B4-BE49-F238E27FC236}">
                <a16:creationId xmlns:a16="http://schemas.microsoft.com/office/drawing/2014/main" id="{11D0FE34-37A4-5D1C-18F4-0AC081A70DFE}"/>
              </a:ext>
            </a:extLst>
          </p:cNvPr>
          <p:cNvSpPr txBox="1"/>
          <p:nvPr/>
        </p:nvSpPr>
        <p:spPr>
          <a:xfrm>
            <a:off x="491119" y="1776532"/>
            <a:ext cx="8780203" cy="4031873"/>
          </a:xfrm>
          <a:prstGeom prst="rect">
            <a:avLst/>
          </a:prstGeom>
          <a:noFill/>
        </p:spPr>
        <p:txBody>
          <a:bodyPr wrap="square">
            <a:spAutoFit/>
          </a:bodyPr>
          <a:lstStyle/>
          <a:p>
            <a:pPr>
              <a:buNone/>
            </a:pPr>
            <a:r>
              <a:rPr lang="en-IN" sz="3200" b="1" dirty="0">
                <a:solidFill>
                  <a:srgbClr val="00B050"/>
                </a:solidFill>
              </a:rPr>
              <a:t>Architecture Overview:</a:t>
            </a:r>
            <a:endParaRPr lang="en-IN" sz="3200" dirty="0">
              <a:solidFill>
                <a:srgbClr val="00B050"/>
              </a:solidFill>
            </a:endParaRPr>
          </a:p>
          <a:p>
            <a:pPr marL="457200" indent="-457200">
              <a:buFont typeface="Wingdings" panose="05000000000000000000" pitchFamily="2" charset="2"/>
              <a:buChar char="Ø"/>
            </a:pPr>
            <a:r>
              <a:rPr lang="en-IN" sz="3200" dirty="0"/>
              <a:t>Input size: </a:t>
            </a:r>
            <a:r>
              <a:rPr lang="en-IN" sz="3200" b="1" dirty="0"/>
              <a:t>120 × 120 × 3</a:t>
            </a:r>
            <a:r>
              <a:rPr lang="en-IN" sz="3200" dirty="0"/>
              <a:t> </a:t>
            </a:r>
          </a:p>
          <a:p>
            <a:pPr marL="457200" indent="-457200">
              <a:buFont typeface="Wingdings" panose="05000000000000000000" pitchFamily="2" charset="2"/>
              <a:buChar char="Ø"/>
            </a:pPr>
            <a:r>
              <a:rPr lang="en-IN" sz="3200" dirty="0"/>
              <a:t>3 Convolutional layers (32 → 64 → 128 filters) </a:t>
            </a:r>
          </a:p>
          <a:p>
            <a:pPr marL="457200" indent="-457200">
              <a:buFont typeface="Wingdings" panose="05000000000000000000" pitchFamily="2" charset="2"/>
              <a:buChar char="Ø"/>
            </a:pPr>
            <a:r>
              <a:rPr lang="en-IN" sz="3200" dirty="0" err="1"/>
              <a:t>ReLU</a:t>
            </a:r>
            <a:r>
              <a:rPr lang="en-IN" sz="3200" dirty="0"/>
              <a:t> activation function </a:t>
            </a:r>
          </a:p>
          <a:p>
            <a:pPr marL="457200" indent="-457200">
              <a:buFont typeface="Wingdings" panose="05000000000000000000" pitchFamily="2" charset="2"/>
              <a:buChar char="Ø"/>
            </a:pPr>
            <a:r>
              <a:rPr lang="en-IN" sz="3200" dirty="0"/>
              <a:t>Max Pooling after each convolution </a:t>
            </a:r>
          </a:p>
          <a:p>
            <a:pPr marL="457200" indent="-457200">
              <a:buFont typeface="Wingdings" panose="05000000000000000000" pitchFamily="2" charset="2"/>
              <a:buChar char="Ø"/>
            </a:pPr>
            <a:r>
              <a:rPr lang="en-IN" sz="3200" dirty="0"/>
              <a:t>Adaptive Average Pooling </a:t>
            </a:r>
          </a:p>
          <a:p>
            <a:pPr marL="457200" indent="-457200">
              <a:buFont typeface="Wingdings" panose="05000000000000000000" pitchFamily="2" charset="2"/>
              <a:buChar char="Ø"/>
            </a:pPr>
            <a:r>
              <a:rPr lang="en-IN" sz="3200" dirty="0"/>
              <a:t>Fully Connected Layer (128 → 3 classes) </a:t>
            </a:r>
          </a:p>
          <a:p>
            <a:pPr marL="457200" indent="-457200">
              <a:buFont typeface="Wingdings" panose="05000000000000000000" pitchFamily="2" charset="2"/>
              <a:buChar char="Ø"/>
            </a:pPr>
            <a:r>
              <a:rPr lang="en-IN" sz="3200" dirty="0"/>
              <a:t>Dropout (0.5) to reduce overfitting</a:t>
            </a:r>
          </a:p>
        </p:txBody>
      </p:sp>
      <p:sp>
        <p:nvSpPr>
          <p:cNvPr id="4" name="Delay 6">
            <a:extLst>
              <a:ext uri="{FF2B5EF4-FFF2-40B4-BE49-F238E27FC236}">
                <a16:creationId xmlns:a16="http://schemas.microsoft.com/office/drawing/2014/main" id="{58BFA776-4C91-F16F-2BA9-3C1474A43DA8}"/>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46802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6C58F9D-C4C0-C3D7-AB8D-F85E14218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30826"/>
            <a:ext cx="5344016" cy="49945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3C24BF0-A1FA-C649-128C-A4BD24CBB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0729" y="3429000"/>
            <a:ext cx="4732256" cy="330880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5">
            <a:extLst>
              <a:ext uri="{FF2B5EF4-FFF2-40B4-BE49-F238E27FC236}">
                <a16:creationId xmlns:a16="http://schemas.microsoft.com/office/drawing/2014/main" id="{8527CA86-42BD-DCA0-22C2-E47D29B56C76}"/>
              </a:ext>
            </a:extLst>
          </p:cNvPr>
          <p:cNvSpPr>
            <a:spLocks noChangeArrowheads="1"/>
          </p:cNvSpPr>
          <p:nvPr/>
        </p:nvSpPr>
        <p:spPr bwMode="auto">
          <a:xfrm>
            <a:off x="5464261" y="1736913"/>
            <a:ext cx="672773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Training accuracy improved over epochs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Validation accuracy remained low (~50–60%)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Model struggled with </a:t>
            </a:r>
            <a:r>
              <a:rPr kumimoji="0" lang="en-US" altLang="en-US" sz="2400" b="0" i="0" u="none" strike="noStrike" cap="none" normalizeH="0" baseline="0" dirty="0" err="1">
                <a:ln>
                  <a:noFill/>
                </a:ln>
                <a:solidFill>
                  <a:schemeClr val="tx1"/>
                </a:solidFill>
                <a:effectLst/>
                <a:latin typeface="Arial" panose="020B0604020202020204" pitchFamily="34" charset="0"/>
              </a:rPr>
              <a:t>generalisation</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Poor performance on </a:t>
            </a:r>
            <a:r>
              <a:rPr kumimoji="0" lang="en-US" altLang="en-US" sz="2400" b="1" i="0" u="none" strike="noStrike" cap="none" normalizeH="0" baseline="0" dirty="0">
                <a:ln>
                  <a:noFill/>
                </a:ln>
                <a:solidFill>
                  <a:schemeClr val="tx1"/>
                </a:solidFill>
                <a:effectLst/>
                <a:latin typeface="Arial" panose="020B0604020202020204" pitchFamily="34" charset="0"/>
              </a:rPr>
              <a:t>benign class</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
        <p:nvSpPr>
          <p:cNvPr id="2" name="Rectangle 1">
            <a:extLst>
              <a:ext uri="{FF2B5EF4-FFF2-40B4-BE49-F238E27FC236}">
                <a16:creationId xmlns:a16="http://schemas.microsoft.com/office/drawing/2014/main" id="{A2C3D80F-6737-032B-B71F-F7436F288CC4}"/>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5" name="Delay 6">
            <a:extLst>
              <a:ext uri="{FF2B5EF4-FFF2-40B4-BE49-F238E27FC236}">
                <a16:creationId xmlns:a16="http://schemas.microsoft.com/office/drawing/2014/main" id="{1A7F7355-CDB5-0982-3107-870D307A37D2}"/>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2DEAE533-54BA-31AB-8EFF-E7C15D7F67CE}"/>
              </a:ext>
            </a:extLst>
          </p:cNvPr>
          <p:cNvSpPr txBox="1"/>
          <p:nvPr/>
        </p:nvSpPr>
        <p:spPr>
          <a:xfrm>
            <a:off x="1572" y="684102"/>
            <a:ext cx="6094428" cy="646331"/>
          </a:xfrm>
          <a:prstGeom prst="rect">
            <a:avLst/>
          </a:prstGeom>
          <a:noFill/>
        </p:spPr>
        <p:txBody>
          <a:bodyPr wrap="square">
            <a:spAutoFit/>
          </a:bodyPr>
          <a:lstStyle/>
          <a:p>
            <a:r>
              <a:rPr lang="en-IN" sz="3600" dirty="0">
                <a:solidFill>
                  <a:schemeClr val="bg1"/>
                </a:solidFill>
              </a:rPr>
              <a:t>Baseline CNN Results</a:t>
            </a:r>
          </a:p>
        </p:txBody>
      </p:sp>
    </p:spTree>
    <p:extLst>
      <p:ext uri="{BB962C8B-B14F-4D97-AF65-F5344CB8AC3E}">
        <p14:creationId xmlns:p14="http://schemas.microsoft.com/office/powerpoint/2010/main" val="2820980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7B1212-5810-91BB-C9A2-8B03ED11DA7A}"/>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3" name="TextBox 2">
            <a:extLst>
              <a:ext uri="{FF2B5EF4-FFF2-40B4-BE49-F238E27FC236}">
                <a16:creationId xmlns:a16="http://schemas.microsoft.com/office/drawing/2014/main" id="{9F66E28D-7347-82A7-55B2-94E401A0DEBB}"/>
              </a:ext>
            </a:extLst>
          </p:cNvPr>
          <p:cNvSpPr txBox="1"/>
          <p:nvPr/>
        </p:nvSpPr>
        <p:spPr>
          <a:xfrm>
            <a:off x="273821" y="684102"/>
            <a:ext cx="6094428" cy="646331"/>
          </a:xfrm>
          <a:prstGeom prst="rect">
            <a:avLst/>
          </a:prstGeom>
          <a:noFill/>
        </p:spPr>
        <p:txBody>
          <a:bodyPr wrap="square">
            <a:spAutoFit/>
          </a:bodyPr>
          <a:lstStyle/>
          <a:p>
            <a:r>
              <a:rPr lang="en-IN" sz="3600" dirty="0">
                <a:solidFill>
                  <a:schemeClr val="bg1"/>
                </a:solidFill>
              </a:rPr>
              <a:t>Model 2 – Improved CNN</a:t>
            </a:r>
          </a:p>
        </p:txBody>
      </p:sp>
      <p:sp>
        <p:nvSpPr>
          <p:cNvPr id="5" name="TextBox 4">
            <a:extLst>
              <a:ext uri="{FF2B5EF4-FFF2-40B4-BE49-F238E27FC236}">
                <a16:creationId xmlns:a16="http://schemas.microsoft.com/office/drawing/2014/main" id="{DBC5CBE9-BC6E-20E8-BD59-77FD49A1779C}"/>
              </a:ext>
            </a:extLst>
          </p:cNvPr>
          <p:cNvSpPr txBox="1"/>
          <p:nvPr/>
        </p:nvSpPr>
        <p:spPr>
          <a:xfrm>
            <a:off x="0" y="1905506"/>
            <a:ext cx="10240879" cy="3046988"/>
          </a:xfrm>
          <a:prstGeom prst="rect">
            <a:avLst/>
          </a:prstGeom>
          <a:noFill/>
        </p:spPr>
        <p:txBody>
          <a:bodyPr wrap="square">
            <a:spAutoFit/>
          </a:bodyPr>
          <a:lstStyle/>
          <a:p>
            <a:pPr>
              <a:buNone/>
            </a:pPr>
            <a:r>
              <a:rPr lang="en-US" sz="3200" b="1" dirty="0">
                <a:solidFill>
                  <a:srgbClr val="00B050"/>
                </a:solidFill>
              </a:rPr>
              <a:t>Key Improvements Over Baseline:</a:t>
            </a:r>
            <a:endParaRPr lang="en-US" sz="3200" dirty="0">
              <a:solidFill>
                <a:srgbClr val="00B050"/>
              </a:solidFill>
            </a:endParaRPr>
          </a:p>
          <a:p>
            <a:pPr marL="457200" indent="-457200">
              <a:buFont typeface="Wingdings" panose="05000000000000000000" pitchFamily="2" charset="2"/>
              <a:buChar char="Ø"/>
            </a:pPr>
            <a:r>
              <a:rPr lang="en-US" sz="3200" dirty="0"/>
              <a:t>Input size increased to </a:t>
            </a:r>
            <a:r>
              <a:rPr lang="en-US" sz="3200" b="1" dirty="0"/>
              <a:t>160 × 160 × 3</a:t>
            </a:r>
            <a:r>
              <a:rPr lang="en-US" sz="3200" dirty="0"/>
              <a:t> </a:t>
            </a:r>
          </a:p>
          <a:p>
            <a:pPr marL="457200" indent="-457200">
              <a:buFont typeface="Wingdings" panose="05000000000000000000" pitchFamily="2" charset="2"/>
              <a:buChar char="Ø"/>
            </a:pPr>
            <a:r>
              <a:rPr lang="en-US" sz="3200" dirty="0"/>
              <a:t>Added </a:t>
            </a:r>
            <a:r>
              <a:rPr lang="en-US" sz="3200" b="1" dirty="0"/>
              <a:t>Batch Normalization</a:t>
            </a:r>
            <a:r>
              <a:rPr lang="en-US" sz="3200" dirty="0"/>
              <a:t> after each convolution </a:t>
            </a:r>
          </a:p>
          <a:p>
            <a:pPr marL="457200" indent="-457200">
              <a:buFont typeface="Wingdings" panose="05000000000000000000" pitchFamily="2" charset="2"/>
              <a:buChar char="Ø"/>
            </a:pPr>
            <a:r>
              <a:rPr lang="en-US" sz="3200" dirty="0"/>
              <a:t>Deeper network (4 convolutional layers) </a:t>
            </a:r>
          </a:p>
          <a:p>
            <a:pPr marL="457200" indent="-457200">
              <a:buFont typeface="Wingdings" panose="05000000000000000000" pitchFamily="2" charset="2"/>
              <a:buChar char="Ø"/>
            </a:pPr>
            <a:r>
              <a:rPr lang="en-US" sz="3200" dirty="0"/>
              <a:t>Increased filters (up to 256) </a:t>
            </a:r>
          </a:p>
          <a:p>
            <a:pPr marL="457200" indent="-457200">
              <a:buFont typeface="Wingdings" panose="05000000000000000000" pitchFamily="2" charset="2"/>
              <a:buChar char="Ø"/>
            </a:pPr>
            <a:r>
              <a:rPr lang="en-US" sz="3200" dirty="0"/>
              <a:t>Better feature extraction capability</a:t>
            </a:r>
          </a:p>
        </p:txBody>
      </p:sp>
      <p:sp>
        <p:nvSpPr>
          <p:cNvPr id="4" name="Delay 6">
            <a:extLst>
              <a:ext uri="{FF2B5EF4-FFF2-40B4-BE49-F238E27FC236}">
                <a16:creationId xmlns:a16="http://schemas.microsoft.com/office/drawing/2014/main" id="{BB92F50D-F84C-443F-B980-F1CF602004F0}"/>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342896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6866B-FBC0-DB9F-2A77-8851FDC5A7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D78A31-A434-9B84-AE99-42B9B95C011E}"/>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3" name="TextBox 2">
            <a:extLst>
              <a:ext uri="{FF2B5EF4-FFF2-40B4-BE49-F238E27FC236}">
                <a16:creationId xmlns:a16="http://schemas.microsoft.com/office/drawing/2014/main" id="{0EA81011-1E5D-3C7F-D7C7-7C741D9E587B}"/>
              </a:ext>
            </a:extLst>
          </p:cNvPr>
          <p:cNvSpPr txBox="1"/>
          <p:nvPr/>
        </p:nvSpPr>
        <p:spPr>
          <a:xfrm>
            <a:off x="273821" y="684102"/>
            <a:ext cx="6094428" cy="646331"/>
          </a:xfrm>
          <a:prstGeom prst="rect">
            <a:avLst/>
          </a:prstGeom>
          <a:noFill/>
        </p:spPr>
        <p:txBody>
          <a:bodyPr wrap="square">
            <a:spAutoFit/>
          </a:bodyPr>
          <a:lstStyle/>
          <a:p>
            <a:r>
              <a:rPr lang="en-IN" sz="3600" dirty="0">
                <a:solidFill>
                  <a:schemeClr val="bg1"/>
                </a:solidFill>
              </a:rPr>
              <a:t>Model 2 – Improved CNN</a:t>
            </a:r>
          </a:p>
        </p:txBody>
      </p:sp>
      <p:sp>
        <p:nvSpPr>
          <p:cNvPr id="7" name="TextBox 6">
            <a:extLst>
              <a:ext uri="{FF2B5EF4-FFF2-40B4-BE49-F238E27FC236}">
                <a16:creationId xmlns:a16="http://schemas.microsoft.com/office/drawing/2014/main" id="{7C824838-4961-401C-2988-3284B99A54BC}"/>
              </a:ext>
            </a:extLst>
          </p:cNvPr>
          <p:cNvSpPr txBox="1"/>
          <p:nvPr/>
        </p:nvSpPr>
        <p:spPr>
          <a:xfrm>
            <a:off x="0" y="1898540"/>
            <a:ext cx="11554385" cy="2554545"/>
          </a:xfrm>
          <a:prstGeom prst="rect">
            <a:avLst/>
          </a:prstGeom>
          <a:noFill/>
        </p:spPr>
        <p:txBody>
          <a:bodyPr wrap="square">
            <a:spAutoFit/>
          </a:bodyPr>
          <a:lstStyle/>
          <a:p>
            <a:pPr>
              <a:buNone/>
            </a:pPr>
            <a:r>
              <a:rPr lang="en-IN" sz="3200" b="1" dirty="0">
                <a:solidFill>
                  <a:srgbClr val="00B050"/>
                </a:solidFill>
              </a:rPr>
              <a:t>Architecture Overview:</a:t>
            </a:r>
            <a:endParaRPr lang="en-IN" sz="3200" dirty="0">
              <a:solidFill>
                <a:srgbClr val="00B050"/>
              </a:solidFill>
            </a:endParaRPr>
          </a:p>
          <a:p>
            <a:pPr marL="457200" indent="-457200">
              <a:buFont typeface="Wingdings" panose="05000000000000000000" pitchFamily="2" charset="2"/>
              <a:buChar char="Ø"/>
            </a:pPr>
            <a:r>
              <a:rPr lang="en-IN" sz="3200" dirty="0"/>
              <a:t>Conv → </a:t>
            </a:r>
            <a:r>
              <a:rPr lang="en-IN" sz="3200" dirty="0" err="1"/>
              <a:t>BatchNorm</a:t>
            </a:r>
            <a:r>
              <a:rPr lang="en-IN" sz="3200" dirty="0"/>
              <a:t> → </a:t>
            </a:r>
            <a:r>
              <a:rPr lang="en-IN" sz="3200" dirty="0" err="1"/>
              <a:t>ReLU</a:t>
            </a:r>
            <a:r>
              <a:rPr lang="en-IN" sz="3200" dirty="0"/>
              <a:t> → </a:t>
            </a:r>
            <a:r>
              <a:rPr lang="en-IN" sz="3200" dirty="0" err="1"/>
              <a:t>MaxPool</a:t>
            </a:r>
            <a:r>
              <a:rPr lang="en-IN" sz="3200" dirty="0"/>
              <a:t> (repeated) </a:t>
            </a:r>
          </a:p>
          <a:p>
            <a:pPr marL="457200" indent="-457200">
              <a:buFont typeface="Wingdings" panose="05000000000000000000" pitchFamily="2" charset="2"/>
              <a:buChar char="Ø"/>
            </a:pPr>
            <a:r>
              <a:rPr lang="en-IN" sz="3200" dirty="0"/>
              <a:t>Adaptive Average Pooling </a:t>
            </a:r>
          </a:p>
          <a:p>
            <a:pPr marL="457200" indent="-457200">
              <a:buFont typeface="Wingdings" panose="05000000000000000000" pitchFamily="2" charset="2"/>
              <a:buChar char="Ø"/>
            </a:pPr>
            <a:r>
              <a:rPr lang="en-IN" sz="3200" dirty="0"/>
              <a:t>Fully Connected Layer (256 → 3 classes) </a:t>
            </a:r>
          </a:p>
          <a:p>
            <a:pPr marL="457200" indent="-457200">
              <a:buFont typeface="Wingdings" panose="05000000000000000000" pitchFamily="2" charset="2"/>
              <a:buChar char="Ø"/>
            </a:pPr>
            <a:r>
              <a:rPr lang="en-IN" sz="3200" dirty="0"/>
              <a:t>Dropout (0.5)</a:t>
            </a:r>
          </a:p>
        </p:txBody>
      </p:sp>
      <p:sp>
        <p:nvSpPr>
          <p:cNvPr id="4" name="Delay 6">
            <a:extLst>
              <a:ext uri="{FF2B5EF4-FFF2-40B4-BE49-F238E27FC236}">
                <a16:creationId xmlns:a16="http://schemas.microsoft.com/office/drawing/2014/main" id="{5E11CD30-3DFD-2CEE-DDB2-8008E5A886BA}"/>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3440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7E4B33-5F57-3991-806E-E336378BD504}"/>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5" name="Delay 6">
            <a:extLst>
              <a:ext uri="{FF2B5EF4-FFF2-40B4-BE49-F238E27FC236}">
                <a16:creationId xmlns:a16="http://schemas.microsoft.com/office/drawing/2014/main" id="{96177AC1-7306-608F-9CE5-E482546E7AAA}"/>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815D24EF-07E5-E8B0-B03F-6B014B3D6FD6}"/>
              </a:ext>
            </a:extLst>
          </p:cNvPr>
          <p:cNvSpPr txBox="1"/>
          <p:nvPr/>
        </p:nvSpPr>
        <p:spPr>
          <a:xfrm>
            <a:off x="273821" y="684102"/>
            <a:ext cx="6094428" cy="646331"/>
          </a:xfrm>
          <a:prstGeom prst="rect">
            <a:avLst/>
          </a:prstGeom>
          <a:noFill/>
        </p:spPr>
        <p:txBody>
          <a:bodyPr wrap="square">
            <a:spAutoFit/>
          </a:bodyPr>
          <a:lstStyle/>
          <a:p>
            <a:r>
              <a:rPr lang="en-IN" sz="3600" dirty="0">
                <a:solidFill>
                  <a:schemeClr val="bg1"/>
                </a:solidFill>
              </a:rPr>
              <a:t>Improved CNN Results</a:t>
            </a:r>
          </a:p>
        </p:txBody>
      </p:sp>
      <p:pic>
        <p:nvPicPr>
          <p:cNvPr id="6146" name="Picture 2">
            <a:extLst>
              <a:ext uri="{FF2B5EF4-FFF2-40B4-BE49-F238E27FC236}">
                <a16:creationId xmlns:a16="http://schemas.microsoft.com/office/drawing/2014/main" id="{BBB275B0-B5F4-1DD7-7280-21EB753167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8540"/>
            <a:ext cx="5202612" cy="461810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D2DC0996-097D-7F03-C532-DEA08E147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192" y="3623517"/>
            <a:ext cx="5112864" cy="301554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7">
            <a:extLst>
              <a:ext uri="{FF2B5EF4-FFF2-40B4-BE49-F238E27FC236}">
                <a16:creationId xmlns:a16="http://schemas.microsoft.com/office/drawing/2014/main" id="{CB04749C-5743-B68F-94C0-19B8AF1D6EB2}"/>
              </a:ext>
            </a:extLst>
          </p:cNvPr>
          <p:cNvSpPr>
            <a:spLocks noChangeArrowheads="1"/>
          </p:cNvSpPr>
          <p:nvPr/>
        </p:nvSpPr>
        <p:spPr bwMode="auto">
          <a:xfrm>
            <a:off x="5221855" y="1315193"/>
            <a:ext cx="641553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Validation accuracy significantly improved </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a:t>
            </a:r>
            <a:r>
              <a:rPr kumimoji="0" lang="en-US" altLang="en-US" sz="2400" b="1" i="0" u="none" strike="noStrike" cap="none" normalizeH="0" baseline="0" dirty="0">
                <a:ln>
                  <a:noFill/>
                </a:ln>
                <a:solidFill>
                  <a:schemeClr val="tx1"/>
                </a:solidFill>
                <a:effectLst/>
                <a:latin typeface="Arial" panose="020B0604020202020204" pitchFamily="34" charset="0"/>
              </a:rPr>
              <a:t>~85–90%</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Better </a:t>
            </a:r>
            <a:r>
              <a:rPr kumimoji="0" lang="en-US" altLang="en-US" sz="2400" b="0" i="0" u="none" strike="noStrike" cap="none" normalizeH="0" baseline="0" dirty="0" err="1">
                <a:ln>
                  <a:noFill/>
                </a:ln>
                <a:solidFill>
                  <a:schemeClr val="tx1"/>
                </a:solidFill>
                <a:effectLst/>
                <a:latin typeface="Arial" panose="020B0604020202020204" pitchFamily="34" charset="0"/>
              </a:rPr>
              <a:t>generalisation</a:t>
            </a:r>
            <a:r>
              <a:rPr kumimoji="0" lang="en-US" altLang="en-US" sz="2400" b="0" i="0" u="none" strike="noStrike" cap="none" normalizeH="0" baseline="0" dirty="0">
                <a:ln>
                  <a:noFill/>
                </a:ln>
                <a:solidFill>
                  <a:schemeClr val="tx1"/>
                </a:solidFill>
                <a:effectLst/>
                <a:latin typeface="Arial" panose="020B0604020202020204" pitchFamily="34" charset="0"/>
              </a:rPr>
              <a:t> compared to baseline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Improved detection of </a:t>
            </a:r>
            <a:r>
              <a:rPr kumimoji="0" lang="en-US" altLang="en-US" sz="2400" b="1" i="0" u="none" strike="noStrike" cap="none" normalizeH="0" baseline="0" dirty="0">
                <a:ln>
                  <a:noFill/>
                </a:ln>
                <a:solidFill>
                  <a:schemeClr val="tx1"/>
                </a:solidFill>
                <a:effectLst/>
                <a:latin typeface="Arial" panose="020B0604020202020204" pitchFamily="34" charset="0"/>
              </a:rPr>
              <a:t>malignant cases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Reduced misclassification overall </a:t>
            </a:r>
          </a:p>
        </p:txBody>
      </p:sp>
    </p:spTree>
    <p:extLst>
      <p:ext uri="{BB962C8B-B14F-4D97-AF65-F5344CB8AC3E}">
        <p14:creationId xmlns:p14="http://schemas.microsoft.com/office/powerpoint/2010/main" val="1980284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CCC33E-728C-290B-CC90-A9085D8AE724}"/>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3" name="TextBox 2">
            <a:extLst>
              <a:ext uri="{FF2B5EF4-FFF2-40B4-BE49-F238E27FC236}">
                <a16:creationId xmlns:a16="http://schemas.microsoft.com/office/drawing/2014/main" id="{B32BC741-53EC-7F36-6671-76D056ACBFEF}"/>
              </a:ext>
            </a:extLst>
          </p:cNvPr>
          <p:cNvSpPr txBox="1"/>
          <p:nvPr/>
        </p:nvSpPr>
        <p:spPr>
          <a:xfrm>
            <a:off x="407711" y="684102"/>
            <a:ext cx="6094428" cy="646331"/>
          </a:xfrm>
          <a:prstGeom prst="rect">
            <a:avLst/>
          </a:prstGeom>
          <a:noFill/>
        </p:spPr>
        <p:txBody>
          <a:bodyPr wrap="square">
            <a:spAutoFit/>
          </a:bodyPr>
          <a:lstStyle/>
          <a:p>
            <a:r>
              <a:rPr lang="en-IN" sz="3600" dirty="0">
                <a:solidFill>
                  <a:schemeClr val="bg1"/>
                </a:solidFill>
              </a:rPr>
              <a:t>Model 3 – ResNet18</a:t>
            </a:r>
          </a:p>
        </p:txBody>
      </p:sp>
      <p:sp>
        <p:nvSpPr>
          <p:cNvPr id="5" name="TextBox 4">
            <a:extLst>
              <a:ext uri="{FF2B5EF4-FFF2-40B4-BE49-F238E27FC236}">
                <a16:creationId xmlns:a16="http://schemas.microsoft.com/office/drawing/2014/main" id="{5B424016-32C5-129F-5D0B-4B3D8F72A7B1}"/>
              </a:ext>
            </a:extLst>
          </p:cNvPr>
          <p:cNvSpPr txBox="1"/>
          <p:nvPr/>
        </p:nvSpPr>
        <p:spPr>
          <a:xfrm>
            <a:off x="407711" y="1898540"/>
            <a:ext cx="9086849" cy="2554545"/>
          </a:xfrm>
          <a:prstGeom prst="rect">
            <a:avLst/>
          </a:prstGeom>
          <a:noFill/>
        </p:spPr>
        <p:txBody>
          <a:bodyPr wrap="square">
            <a:spAutoFit/>
          </a:bodyPr>
          <a:lstStyle/>
          <a:p>
            <a:pPr>
              <a:buNone/>
            </a:pPr>
            <a:r>
              <a:rPr lang="en-US" sz="3200" b="1" dirty="0">
                <a:solidFill>
                  <a:srgbClr val="FF0000"/>
                </a:solidFill>
              </a:rPr>
              <a:t>Why ResNet18?</a:t>
            </a:r>
            <a:endParaRPr lang="en-US" sz="3200" dirty="0">
              <a:solidFill>
                <a:srgbClr val="FF0000"/>
              </a:solidFill>
            </a:endParaRPr>
          </a:p>
          <a:p>
            <a:pPr marL="457200" indent="-457200">
              <a:buFont typeface="Wingdings" panose="05000000000000000000" pitchFamily="2" charset="2"/>
              <a:buChar char="Ø"/>
            </a:pPr>
            <a:r>
              <a:rPr lang="en-US" sz="3200" dirty="0"/>
              <a:t>Deep neural network with </a:t>
            </a:r>
            <a:r>
              <a:rPr lang="en-US" sz="3200" b="1" dirty="0"/>
              <a:t>residual connections</a:t>
            </a:r>
            <a:r>
              <a:rPr lang="en-US" sz="3200" dirty="0"/>
              <a:t> </a:t>
            </a:r>
          </a:p>
          <a:p>
            <a:pPr marL="457200" indent="-457200">
              <a:buFont typeface="Wingdings" panose="05000000000000000000" pitchFamily="2" charset="2"/>
              <a:buChar char="Ø"/>
            </a:pPr>
            <a:r>
              <a:rPr lang="en-US" sz="3200" dirty="0"/>
              <a:t>Solves </a:t>
            </a:r>
            <a:r>
              <a:rPr lang="en-US" sz="3200" b="1" dirty="0"/>
              <a:t>vanishing gradient problem</a:t>
            </a:r>
            <a:r>
              <a:rPr lang="en-US" sz="3200" dirty="0"/>
              <a:t> </a:t>
            </a:r>
          </a:p>
          <a:p>
            <a:pPr marL="457200" indent="-457200">
              <a:buFont typeface="Wingdings" panose="05000000000000000000" pitchFamily="2" charset="2"/>
              <a:buChar char="Ø"/>
            </a:pPr>
            <a:r>
              <a:rPr lang="en-US" sz="3200" dirty="0"/>
              <a:t>Enables training of deeper architectures </a:t>
            </a:r>
          </a:p>
          <a:p>
            <a:pPr marL="457200" indent="-457200">
              <a:buFont typeface="Wingdings" panose="05000000000000000000" pitchFamily="2" charset="2"/>
              <a:buChar char="Ø"/>
            </a:pPr>
            <a:r>
              <a:rPr lang="en-US" sz="3200" dirty="0"/>
              <a:t>Pre-trained model improves performance</a:t>
            </a:r>
          </a:p>
        </p:txBody>
      </p:sp>
      <p:sp>
        <p:nvSpPr>
          <p:cNvPr id="4" name="Delay 6">
            <a:extLst>
              <a:ext uri="{FF2B5EF4-FFF2-40B4-BE49-F238E27FC236}">
                <a16:creationId xmlns:a16="http://schemas.microsoft.com/office/drawing/2014/main" id="{5BB77C9D-6969-44D0-274A-261943909FEC}"/>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16336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61D3-26C8-17DF-DF49-4FAB87D3989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B1DBC36-1496-20B2-5082-64C7B7C7BC94}"/>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3" name="TextBox 2">
            <a:extLst>
              <a:ext uri="{FF2B5EF4-FFF2-40B4-BE49-F238E27FC236}">
                <a16:creationId xmlns:a16="http://schemas.microsoft.com/office/drawing/2014/main" id="{4DAE7286-98DB-0A6C-1F8C-1D2CBBE41955}"/>
              </a:ext>
            </a:extLst>
          </p:cNvPr>
          <p:cNvSpPr txBox="1"/>
          <p:nvPr/>
        </p:nvSpPr>
        <p:spPr>
          <a:xfrm>
            <a:off x="407711" y="684102"/>
            <a:ext cx="6094428" cy="646331"/>
          </a:xfrm>
          <a:prstGeom prst="rect">
            <a:avLst/>
          </a:prstGeom>
          <a:noFill/>
        </p:spPr>
        <p:txBody>
          <a:bodyPr wrap="square">
            <a:spAutoFit/>
          </a:bodyPr>
          <a:lstStyle/>
          <a:p>
            <a:r>
              <a:rPr lang="en-IN" sz="3600" dirty="0">
                <a:solidFill>
                  <a:schemeClr val="bg1"/>
                </a:solidFill>
              </a:rPr>
              <a:t>Model 3 – ResNet18</a:t>
            </a:r>
          </a:p>
        </p:txBody>
      </p:sp>
      <p:sp>
        <p:nvSpPr>
          <p:cNvPr id="7" name="TextBox 6">
            <a:extLst>
              <a:ext uri="{FF2B5EF4-FFF2-40B4-BE49-F238E27FC236}">
                <a16:creationId xmlns:a16="http://schemas.microsoft.com/office/drawing/2014/main" id="{169EFB7C-9D25-2DA7-7878-1E1BEF5E38AB}"/>
              </a:ext>
            </a:extLst>
          </p:cNvPr>
          <p:cNvSpPr txBox="1"/>
          <p:nvPr/>
        </p:nvSpPr>
        <p:spPr>
          <a:xfrm>
            <a:off x="407710" y="1898540"/>
            <a:ext cx="11235649" cy="2554545"/>
          </a:xfrm>
          <a:prstGeom prst="rect">
            <a:avLst/>
          </a:prstGeom>
          <a:noFill/>
        </p:spPr>
        <p:txBody>
          <a:bodyPr wrap="square">
            <a:spAutoFit/>
          </a:bodyPr>
          <a:lstStyle/>
          <a:p>
            <a:pPr>
              <a:buNone/>
            </a:pPr>
            <a:r>
              <a:rPr lang="en-US" sz="3200" b="1" dirty="0">
                <a:solidFill>
                  <a:srgbClr val="00B050"/>
                </a:solidFill>
              </a:rPr>
              <a:t>Architecture Overview:</a:t>
            </a:r>
            <a:endParaRPr lang="en-US" sz="3200" dirty="0">
              <a:solidFill>
                <a:srgbClr val="00B050"/>
              </a:solidFill>
            </a:endParaRPr>
          </a:p>
          <a:p>
            <a:pPr marL="457200" indent="-457200">
              <a:buFont typeface="Wingdings" panose="05000000000000000000" pitchFamily="2" charset="2"/>
              <a:buChar char="Ø"/>
            </a:pPr>
            <a:r>
              <a:rPr lang="en-US" sz="3200" dirty="0"/>
              <a:t>Input size: </a:t>
            </a:r>
            <a:r>
              <a:rPr lang="en-US" sz="3200" b="1" dirty="0"/>
              <a:t>224 × 224 × 3</a:t>
            </a:r>
            <a:r>
              <a:rPr lang="en-US" sz="3200" dirty="0"/>
              <a:t> </a:t>
            </a:r>
          </a:p>
          <a:p>
            <a:pPr marL="457200" indent="-457200">
              <a:buFont typeface="Wingdings" panose="05000000000000000000" pitchFamily="2" charset="2"/>
              <a:buChar char="Ø"/>
            </a:pPr>
            <a:r>
              <a:rPr lang="en-US" sz="3200" dirty="0"/>
              <a:t>Multiple convolutional layers with skip connections </a:t>
            </a:r>
          </a:p>
          <a:p>
            <a:pPr marL="457200" indent="-457200">
              <a:buFont typeface="Wingdings" panose="05000000000000000000" pitchFamily="2" charset="2"/>
              <a:buChar char="Ø"/>
            </a:pPr>
            <a:r>
              <a:rPr lang="en-US" sz="3200" dirty="0"/>
              <a:t>Feature extraction using residual blocks </a:t>
            </a:r>
          </a:p>
          <a:p>
            <a:pPr marL="457200" indent="-457200">
              <a:buFont typeface="Wingdings" panose="05000000000000000000" pitchFamily="2" charset="2"/>
              <a:buChar char="Ø"/>
            </a:pPr>
            <a:r>
              <a:rPr lang="en-US" sz="3200" dirty="0"/>
              <a:t>Fully connected layer for </a:t>
            </a:r>
            <a:r>
              <a:rPr lang="en-US" sz="3200" b="1" dirty="0"/>
              <a:t>3-class classification</a:t>
            </a:r>
            <a:endParaRPr lang="en-US" sz="3200" dirty="0"/>
          </a:p>
        </p:txBody>
      </p:sp>
      <p:sp>
        <p:nvSpPr>
          <p:cNvPr id="4" name="Delay 6">
            <a:extLst>
              <a:ext uri="{FF2B5EF4-FFF2-40B4-BE49-F238E27FC236}">
                <a16:creationId xmlns:a16="http://schemas.microsoft.com/office/drawing/2014/main" id="{B533FD09-7140-2C80-753A-B8C0D7A09528}"/>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11499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F6380C92-DA95-724D-C99E-38AB3E931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95807"/>
            <a:ext cx="5137608" cy="493390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453A1DC7-73B8-90BD-544C-B0F373230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8517" y="3463551"/>
            <a:ext cx="5740963" cy="33944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C30795E-898F-5C66-8259-36D46D12BE5C}"/>
              </a:ext>
            </a:extLst>
          </p:cNvPr>
          <p:cNvSpPr>
            <a:spLocks noChangeArrowheads="1"/>
          </p:cNvSpPr>
          <p:nvPr/>
        </p:nvSpPr>
        <p:spPr bwMode="auto">
          <a:xfrm>
            <a:off x="5338517" y="1754189"/>
            <a:ext cx="658866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High training accuracy (</a:t>
            </a:r>
            <a:r>
              <a:rPr kumimoji="0" lang="en-US" altLang="en-US" sz="2400" b="1" i="0" u="none" strike="noStrike" cap="none" normalizeH="0" baseline="0" dirty="0">
                <a:ln>
                  <a:noFill/>
                </a:ln>
                <a:solidFill>
                  <a:schemeClr val="tx1"/>
                </a:solidFill>
                <a:effectLst/>
                <a:latin typeface="Arial" panose="020B0604020202020204" pitchFamily="34" charset="0"/>
              </a:rPr>
              <a:t>~91–92%</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Strong validation accuracy (</a:t>
            </a:r>
            <a:r>
              <a:rPr kumimoji="0" lang="en-US" altLang="en-US" sz="2400" b="1" i="0" u="none" strike="noStrike" cap="none" normalizeH="0" baseline="0" dirty="0">
                <a:ln>
                  <a:noFill/>
                </a:ln>
                <a:solidFill>
                  <a:schemeClr val="tx1"/>
                </a:solidFill>
                <a:effectLst/>
                <a:latin typeface="Arial" panose="020B0604020202020204" pitchFamily="34" charset="0"/>
              </a:rPr>
              <a:t>~88–90%</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Stable learning with minimal overfitting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Excellent performance on </a:t>
            </a:r>
            <a:r>
              <a:rPr kumimoji="0" lang="en-US" altLang="en-US" sz="2400" b="1" i="0" u="none" strike="noStrike" cap="none" normalizeH="0" baseline="0" dirty="0">
                <a:ln>
                  <a:noFill/>
                </a:ln>
                <a:solidFill>
                  <a:schemeClr val="tx1"/>
                </a:solidFill>
                <a:effectLst/>
                <a:latin typeface="Arial" panose="020B0604020202020204" pitchFamily="34" charset="0"/>
              </a:rPr>
              <a:t>malignant cases</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
        <p:nvSpPr>
          <p:cNvPr id="2" name="Rectangle 1">
            <a:extLst>
              <a:ext uri="{FF2B5EF4-FFF2-40B4-BE49-F238E27FC236}">
                <a16:creationId xmlns:a16="http://schemas.microsoft.com/office/drawing/2014/main" id="{C6344D2E-9471-7436-CB24-6E7CCDADB632}"/>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4" name="Delay 6">
            <a:extLst>
              <a:ext uri="{FF2B5EF4-FFF2-40B4-BE49-F238E27FC236}">
                <a16:creationId xmlns:a16="http://schemas.microsoft.com/office/drawing/2014/main" id="{3FDB5C55-9373-8C1E-0782-3E49FF3647D7}"/>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9A9A0A35-AEB2-5EA5-AF7D-7D73777BC814}"/>
              </a:ext>
            </a:extLst>
          </p:cNvPr>
          <p:cNvSpPr txBox="1"/>
          <p:nvPr/>
        </p:nvSpPr>
        <p:spPr>
          <a:xfrm>
            <a:off x="532282" y="684102"/>
            <a:ext cx="6094428" cy="646331"/>
          </a:xfrm>
          <a:prstGeom prst="rect">
            <a:avLst/>
          </a:prstGeom>
          <a:noFill/>
        </p:spPr>
        <p:txBody>
          <a:bodyPr wrap="square">
            <a:spAutoFit/>
          </a:bodyPr>
          <a:lstStyle/>
          <a:p>
            <a:r>
              <a:rPr lang="en-IN" sz="3600" dirty="0">
                <a:solidFill>
                  <a:schemeClr val="bg1"/>
                </a:solidFill>
              </a:rPr>
              <a:t>ResNet18 Results</a:t>
            </a:r>
          </a:p>
        </p:txBody>
      </p:sp>
    </p:spTree>
    <p:extLst>
      <p:ext uri="{BB962C8B-B14F-4D97-AF65-F5344CB8AC3E}">
        <p14:creationId xmlns:p14="http://schemas.microsoft.com/office/powerpoint/2010/main" val="2996172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6604F19-6AF1-1B9D-04FA-4CA03230B8E7}"/>
              </a:ext>
            </a:extLst>
          </p:cNvPr>
          <p:cNvGraphicFramePr>
            <a:graphicFrameLocks noGrp="1"/>
          </p:cNvGraphicFramePr>
          <p:nvPr>
            <p:extLst>
              <p:ext uri="{D42A27DB-BD31-4B8C-83A1-F6EECF244321}">
                <p14:modId xmlns:p14="http://schemas.microsoft.com/office/powerpoint/2010/main" val="2046220438"/>
              </p:ext>
            </p:extLst>
          </p:nvPr>
        </p:nvGraphicFramePr>
        <p:xfrm>
          <a:off x="706225" y="2012082"/>
          <a:ext cx="10515600" cy="2194560"/>
        </p:xfrm>
        <a:graphic>
          <a:graphicData uri="http://schemas.openxmlformats.org/drawingml/2006/table">
            <a:tbl>
              <a:tblPr/>
              <a:tblGrid>
                <a:gridCol w="3505200">
                  <a:extLst>
                    <a:ext uri="{9D8B030D-6E8A-4147-A177-3AD203B41FA5}">
                      <a16:colId xmlns:a16="http://schemas.microsoft.com/office/drawing/2014/main" val="1098982095"/>
                    </a:ext>
                  </a:extLst>
                </a:gridCol>
                <a:gridCol w="3505200">
                  <a:extLst>
                    <a:ext uri="{9D8B030D-6E8A-4147-A177-3AD203B41FA5}">
                      <a16:colId xmlns:a16="http://schemas.microsoft.com/office/drawing/2014/main" val="3901499110"/>
                    </a:ext>
                  </a:extLst>
                </a:gridCol>
                <a:gridCol w="3505200">
                  <a:extLst>
                    <a:ext uri="{9D8B030D-6E8A-4147-A177-3AD203B41FA5}">
                      <a16:colId xmlns:a16="http://schemas.microsoft.com/office/drawing/2014/main" val="2270689439"/>
                    </a:ext>
                  </a:extLst>
                </a:gridCol>
              </a:tblGrid>
              <a:tr h="0">
                <a:tc>
                  <a:txBody>
                    <a:bodyPr/>
                    <a:lstStyle/>
                    <a:p>
                      <a:pPr>
                        <a:buNone/>
                      </a:pPr>
                      <a:r>
                        <a:rPr lang="en-IN" sz="2400" dirty="0"/>
                        <a:t>Model</a:t>
                      </a:r>
                    </a:p>
                  </a:txBody>
                  <a:tcPr anchor="ctr">
                    <a:lnL>
                      <a:noFill/>
                    </a:lnL>
                    <a:lnR>
                      <a:noFill/>
                    </a:lnR>
                    <a:lnT>
                      <a:noFill/>
                    </a:lnT>
                    <a:lnB>
                      <a:noFill/>
                    </a:lnB>
                    <a:solidFill>
                      <a:srgbClr val="E2EFF5"/>
                    </a:solidFill>
                  </a:tcPr>
                </a:tc>
                <a:tc>
                  <a:txBody>
                    <a:bodyPr/>
                    <a:lstStyle/>
                    <a:p>
                      <a:pPr>
                        <a:buNone/>
                      </a:pPr>
                      <a:r>
                        <a:rPr lang="en-IN" sz="2400" dirty="0"/>
                        <a:t>Accuracy</a:t>
                      </a:r>
                    </a:p>
                  </a:txBody>
                  <a:tcPr anchor="ctr">
                    <a:lnL>
                      <a:noFill/>
                    </a:lnL>
                    <a:lnR>
                      <a:noFill/>
                    </a:lnR>
                    <a:lnT>
                      <a:noFill/>
                    </a:lnT>
                    <a:lnB>
                      <a:noFill/>
                    </a:lnB>
                    <a:solidFill>
                      <a:srgbClr val="E2EFF5"/>
                    </a:solidFill>
                  </a:tcPr>
                </a:tc>
                <a:tc>
                  <a:txBody>
                    <a:bodyPr/>
                    <a:lstStyle/>
                    <a:p>
                      <a:pPr>
                        <a:buNone/>
                      </a:pPr>
                      <a:r>
                        <a:rPr lang="en-IN" sz="2400" dirty="0"/>
                        <a:t>Key Observation</a:t>
                      </a:r>
                    </a:p>
                  </a:txBody>
                  <a:tcPr anchor="ctr">
                    <a:lnL>
                      <a:noFill/>
                    </a:lnL>
                    <a:lnR>
                      <a:noFill/>
                    </a:lnR>
                    <a:lnT>
                      <a:noFill/>
                    </a:lnT>
                    <a:lnB>
                      <a:noFill/>
                    </a:lnB>
                    <a:solidFill>
                      <a:srgbClr val="E2EFF5"/>
                    </a:solidFill>
                  </a:tcPr>
                </a:tc>
                <a:extLst>
                  <a:ext uri="{0D108BD9-81ED-4DB2-BD59-A6C34878D82A}">
                    <a16:rowId xmlns:a16="http://schemas.microsoft.com/office/drawing/2014/main" val="125320747"/>
                  </a:ext>
                </a:extLst>
              </a:tr>
              <a:tr h="0">
                <a:tc>
                  <a:txBody>
                    <a:bodyPr/>
                    <a:lstStyle/>
                    <a:p>
                      <a:pPr>
                        <a:buNone/>
                      </a:pPr>
                      <a:r>
                        <a:rPr lang="en-IN" sz="2400" dirty="0"/>
                        <a:t>Baseline CNN</a:t>
                      </a:r>
                    </a:p>
                  </a:txBody>
                  <a:tcPr anchor="ctr">
                    <a:lnL>
                      <a:noFill/>
                    </a:lnL>
                    <a:lnR>
                      <a:noFill/>
                    </a:lnR>
                    <a:lnT>
                      <a:noFill/>
                    </a:lnT>
                    <a:lnB>
                      <a:noFill/>
                    </a:lnB>
                    <a:solidFill>
                      <a:schemeClr val="bg2">
                        <a:lumMod val="90000"/>
                      </a:schemeClr>
                    </a:solidFill>
                  </a:tcPr>
                </a:tc>
                <a:tc>
                  <a:txBody>
                    <a:bodyPr/>
                    <a:lstStyle/>
                    <a:p>
                      <a:pPr>
                        <a:buNone/>
                      </a:pPr>
                      <a:r>
                        <a:rPr lang="en-IN" sz="2400" dirty="0"/>
                        <a:t>~50–60%</a:t>
                      </a:r>
                    </a:p>
                  </a:txBody>
                  <a:tcPr anchor="ctr">
                    <a:lnL>
                      <a:noFill/>
                    </a:lnL>
                    <a:lnR>
                      <a:noFill/>
                    </a:lnR>
                    <a:lnT>
                      <a:noFill/>
                    </a:lnT>
                    <a:lnB>
                      <a:noFill/>
                    </a:lnB>
                    <a:solidFill>
                      <a:schemeClr val="bg2">
                        <a:lumMod val="90000"/>
                      </a:schemeClr>
                    </a:solidFill>
                  </a:tcPr>
                </a:tc>
                <a:tc>
                  <a:txBody>
                    <a:bodyPr/>
                    <a:lstStyle/>
                    <a:p>
                      <a:pPr>
                        <a:buNone/>
                      </a:pPr>
                      <a:r>
                        <a:rPr lang="en-IN" sz="2400"/>
                        <a:t>Underfitting, poor generalisation</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472867489"/>
                  </a:ext>
                </a:extLst>
              </a:tr>
              <a:tr h="0">
                <a:tc>
                  <a:txBody>
                    <a:bodyPr/>
                    <a:lstStyle/>
                    <a:p>
                      <a:pPr>
                        <a:buNone/>
                      </a:pPr>
                      <a:r>
                        <a:rPr lang="en-IN" sz="2400" dirty="0"/>
                        <a:t>Improved CNN</a:t>
                      </a:r>
                    </a:p>
                  </a:txBody>
                  <a:tcPr anchor="ctr">
                    <a:lnL>
                      <a:noFill/>
                    </a:lnL>
                    <a:lnR>
                      <a:noFill/>
                    </a:lnR>
                    <a:lnT>
                      <a:noFill/>
                    </a:lnT>
                    <a:lnB>
                      <a:noFill/>
                    </a:lnB>
                    <a:solidFill>
                      <a:schemeClr val="bg2">
                        <a:lumMod val="90000"/>
                      </a:schemeClr>
                    </a:solidFill>
                  </a:tcPr>
                </a:tc>
                <a:tc>
                  <a:txBody>
                    <a:bodyPr/>
                    <a:lstStyle/>
                    <a:p>
                      <a:pPr>
                        <a:buNone/>
                      </a:pPr>
                      <a:r>
                        <a:rPr lang="en-IN" sz="2400" dirty="0"/>
                        <a:t>~85–90%</a:t>
                      </a:r>
                    </a:p>
                  </a:txBody>
                  <a:tcPr anchor="ctr">
                    <a:lnL>
                      <a:noFill/>
                    </a:lnL>
                    <a:lnR>
                      <a:noFill/>
                    </a:lnR>
                    <a:lnT>
                      <a:noFill/>
                    </a:lnT>
                    <a:lnB>
                      <a:noFill/>
                    </a:lnB>
                    <a:solidFill>
                      <a:schemeClr val="bg2">
                        <a:lumMod val="90000"/>
                      </a:schemeClr>
                    </a:solidFill>
                  </a:tcPr>
                </a:tc>
                <a:tc>
                  <a:txBody>
                    <a:bodyPr/>
                    <a:lstStyle/>
                    <a:p>
                      <a:pPr>
                        <a:buNone/>
                      </a:pPr>
                      <a:r>
                        <a:rPr lang="en-IN" sz="2400"/>
                        <a:t>Significant improvement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064826177"/>
                  </a:ext>
                </a:extLst>
              </a:tr>
              <a:tr h="0">
                <a:tc>
                  <a:txBody>
                    <a:bodyPr/>
                    <a:lstStyle/>
                    <a:p>
                      <a:pPr>
                        <a:buNone/>
                      </a:pPr>
                      <a:r>
                        <a:rPr lang="en-IN" sz="2400" b="1"/>
                        <a:t>ResNet18</a:t>
                      </a:r>
                      <a:endParaRPr lang="en-IN" sz="2400"/>
                    </a:p>
                  </a:txBody>
                  <a:tcPr anchor="ctr">
                    <a:lnL>
                      <a:noFill/>
                    </a:lnL>
                    <a:lnR>
                      <a:noFill/>
                    </a:lnR>
                    <a:lnT>
                      <a:noFill/>
                    </a:lnT>
                    <a:lnB>
                      <a:noFill/>
                    </a:lnB>
                    <a:solidFill>
                      <a:schemeClr val="bg2">
                        <a:lumMod val="90000"/>
                      </a:schemeClr>
                    </a:solidFill>
                  </a:tcPr>
                </a:tc>
                <a:tc>
                  <a:txBody>
                    <a:bodyPr/>
                    <a:lstStyle/>
                    <a:p>
                      <a:pPr>
                        <a:buNone/>
                      </a:pPr>
                      <a:r>
                        <a:rPr lang="en-IN" sz="2400" b="1" dirty="0"/>
                        <a:t>~88–90%</a:t>
                      </a:r>
                      <a:endParaRPr lang="en-IN" sz="2400" dirty="0"/>
                    </a:p>
                  </a:txBody>
                  <a:tcPr anchor="ctr">
                    <a:lnL>
                      <a:noFill/>
                    </a:lnL>
                    <a:lnR>
                      <a:noFill/>
                    </a:lnR>
                    <a:lnT>
                      <a:noFill/>
                    </a:lnT>
                    <a:lnB>
                      <a:noFill/>
                    </a:lnB>
                    <a:solidFill>
                      <a:schemeClr val="bg2">
                        <a:lumMod val="90000"/>
                      </a:schemeClr>
                    </a:solidFill>
                  </a:tcPr>
                </a:tc>
                <a:tc>
                  <a:txBody>
                    <a:bodyPr/>
                    <a:lstStyle/>
                    <a:p>
                      <a:pPr>
                        <a:buNone/>
                      </a:pPr>
                      <a:r>
                        <a:rPr lang="en-IN" sz="2400" dirty="0"/>
                        <a:t>Best performance</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389240165"/>
                  </a:ext>
                </a:extLst>
              </a:tr>
            </a:tbl>
          </a:graphicData>
        </a:graphic>
      </p:graphicFrame>
      <p:sp>
        <p:nvSpPr>
          <p:cNvPr id="5" name="Rectangle 1">
            <a:extLst>
              <a:ext uri="{FF2B5EF4-FFF2-40B4-BE49-F238E27FC236}">
                <a16:creationId xmlns:a16="http://schemas.microsoft.com/office/drawing/2014/main" id="{39B1A41A-F984-3A54-B5F7-AA5D62E339FC}"/>
              </a:ext>
            </a:extLst>
          </p:cNvPr>
          <p:cNvSpPr>
            <a:spLocks noChangeArrowheads="1"/>
          </p:cNvSpPr>
          <p:nvPr/>
        </p:nvSpPr>
        <p:spPr bwMode="auto">
          <a:xfrm>
            <a:off x="706225" y="4604238"/>
            <a:ext cx="815479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Performance improves with </a:t>
            </a:r>
            <a:r>
              <a:rPr kumimoji="0" lang="en-US" altLang="en-US" sz="2400" b="1" i="0" u="none" strike="noStrike" cap="none" normalizeH="0" baseline="0" dirty="0">
                <a:ln>
                  <a:noFill/>
                </a:ln>
                <a:solidFill>
                  <a:schemeClr val="tx1"/>
                </a:solidFill>
                <a:effectLst/>
                <a:latin typeface="Arial" panose="020B0604020202020204" pitchFamily="34" charset="0"/>
              </a:rPr>
              <a:t>model complexity</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Deeper networks extract better features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Arial" panose="020B0604020202020204" pitchFamily="34" charset="0"/>
              </a:rPr>
              <a:t>Class imbalance affects </a:t>
            </a:r>
            <a:r>
              <a:rPr kumimoji="0" lang="en-US" altLang="en-US" sz="2400" b="1" i="0" u="none" strike="noStrike" cap="none" normalizeH="0" baseline="0" dirty="0">
                <a:ln>
                  <a:noFill/>
                </a:ln>
                <a:solidFill>
                  <a:schemeClr val="tx1"/>
                </a:solidFill>
                <a:effectLst/>
                <a:latin typeface="Arial" panose="020B0604020202020204" pitchFamily="34" charset="0"/>
              </a:rPr>
              <a:t>benign classification</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err="1">
                <a:ln>
                  <a:noFill/>
                </a:ln>
                <a:solidFill>
                  <a:schemeClr val="tx1"/>
                </a:solidFill>
                <a:effectLst/>
                <a:latin typeface="Arial" panose="020B0604020202020204" pitchFamily="34" charset="0"/>
              </a:rPr>
              <a:t>ResNet</a:t>
            </a:r>
            <a:r>
              <a:rPr kumimoji="0" lang="en-US" altLang="en-US" sz="2400" b="0" i="0" u="none" strike="noStrike" cap="none" normalizeH="0" baseline="0" dirty="0">
                <a:ln>
                  <a:noFill/>
                </a:ln>
                <a:solidFill>
                  <a:schemeClr val="tx1"/>
                </a:solidFill>
                <a:effectLst/>
                <a:latin typeface="Arial" panose="020B0604020202020204" pitchFamily="34" charset="0"/>
              </a:rPr>
              <a:t> provides the most </a:t>
            </a:r>
            <a:r>
              <a:rPr kumimoji="0" lang="en-US" altLang="en-US" sz="2400" b="1" i="0" u="none" strike="noStrike" cap="none" normalizeH="0" baseline="0" dirty="0">
                <a:ln>
                  <a:noFill/>
                </a:ln>
                <a:solidFill>
                  <a:schemeClr val="tx1"/>
                </a:solidFill>
                <a:effectLst/>
                <a:latin typeface="Arial" panose="020B0604020202020204" pitchFamily="34" charset="0"/>
              </a:rPr>
              <a:t>stable and accurate results</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
        <p:nvSpPr>
          <p:cNvPr id="2" name="Rectangle 1">
            <a:extLst>
              <a:ext uri="{FF2B5EF4-FFF2-40B4-BE49-F238E27FC236}">
                <a16:creationId xmlns:a16="http://schemas.microsoft.com/office/drawing/2014/main" id="{879FE42C-E113-2395-383E-51CEDBA99A01}"/>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6" name="Delay 6">
            <a:extLst>
              <a:ext uri="{FF2B5EF4-FFF2-40B4-BE49-F238E27FC236}">
                <a16:creationId xmlns:a16="http://schemas.microsoft.com/office/drawing/2014/main" id="{2E758813-C262-51C9-DE41-DC55CCAC9DFC}"/>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769F6387-5696-B4B2-F8A6-A150AFD6E369}"/>
              </a:ext>
            </a:extLst>
          </p:cNvPr>
          <p:cNvSpPr txBox="1"/>
          <p:nvPr/>
        </p:nvSpPr>
        <p:spPr>
          <a:xfrm>
            <a:off x="273821" y="684102"/>
            <a:ext cx="6094428" cy="646331"/>
          </a:xfrm>
          <a:prstGeom prst="rect">
            <a:avLst/>
          </a:prstGeom>
          <a:noFill/>
        </p:spPr>
        <p:txBody>
          <a:bodyPr wrap="square">
            <a:spAutoFit/>
          </a:bodyPr>
          <a:lstStyle/>
          <a:p>
            <a:r>
              <a:rPr lang="en-IN" sz="3600" dirty="0">
                <a:solidFill>
                  <a:schemeClr val="bg1"/>
                </a:solidFill>
              </a:rPr>
              <a:t>Model Comparison &amp; Analysis</a:t>
            </a:r>
          </a:p>
        </p:txBody>
      </p:sp>
    </p:spTree>
    <p:extLst>
      <p:ext uri="{BB962C8B-B14F-4D97-AF65-F5344CB8AC3E}">
        <p14:creationId xmlns:p14="http://schemas.microsoft.com/office/powerpoint/2010/main" val="1512554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F72A76-F967-1700-734D-A125F751F4A3}"/>
              </a:ext>
            </a:extLst>
          </p:cNvPr>
          <p:cNvSpPr txBox="1"/>
          <p:nvPr/>
        </p:nvSpPr>
        <p:spPr>
          <a:xfrm>
            <a:off x="322868" y="1898540"/>
            <a:ext cx="11457652" cy="3046988"/>
          </a:xfrm>
          <a:prstGeom prst="rect">
            <a:avLst/>
          </a:prstGeom>
          <a:noFill/>
        </p:spPr>
        <p:txBody>
          <a:bodyPr wrap="square">
            <a:spAutoFit/>
          </a:bodyPr>
          <a:lstStyle/>
          <a:p>
            <a:pPr marL="285750" indent="-285750">
              <a:buFont typeface="Wingdings" panose="05000000000000000000" pitchFamily="2" charset="2"/>
              <a:buChar char="Ø"/>
            </a:pPr>
            <a:r>
              <a:rPr lang="en-US" sz="3200" dirty="0"/>
              <a:t>Deep learning models can effectively detect lung cancer from CT scans </a:t>
            </a:r>
          </a:p>
          <a:p>
            <a:pPr marL="285750" indent="-285750">
              <a:buFont typeface="Wingdings" panose="05000000000000000000" pitchFamily="2" charset="2"/>
              <a:buChar char="Ø"/>
            </a:pPr>
            <a:r>
              <a:rPr lang="en-US" sz="3200" dirty="0"/>
              <a:t>Improved CNN significantly outperformed the baseline model </a:t>
            </a:r>
          </a:p>
          <a:p>
            <a:pPr marL="285750" indent="-285750">
              <a:buFont typeface="Wingdings" panose="05000000000000000000" pitchFamily="2" charset="2"/>
              <a:buChar char="Ø"/>
            </a:pPr>
            <a:r>
              <a:rPr lang="en-US" sz="3200" dirty="0"/>
              <a:t>ResNet18 achieved the </a:t>
            </a:r>
            <a:r>
              <a:rPr lang="en-US" sz="3200" b="1" dirty="0"/>
              <a:t>best performance (~90% accuracy)</a:t>
            </a:r>
            <a:r>
              <a:rPr lang="en-US" sz="3200" dirty="0"/>
              <a:t> </a:t>
            </a:r>
          </a:p>
          <a:p>
            <a:pPr marL="285750" indent="-285750">
              <a:buFont typeface="Wingdings" panose="05000000000000000000" pitchFamily="2" charset="2"/>
              <a:buChar char="Ø"/>
            </a:pPr>
            <a:r>
              <a:rPr lang="en-US" sz="3200" dirty="0"/>
              <a:t>High accuracy in detecting </a:t>
            </a:r>
            <a:r>
              <a:rPr lang="en-US" sz="3200" b="1" dirty="0"/>
              <a:t>malignant cases</a:t>
            </a:r>
            <a:r>
              <a:rPr lang="en-US" sz="3200" dirty="0"/>
              <a:t>, which is critical in healthcare</a:t>
            </a:r>
          </a:p>
        </p:txBody>
      </p:sp>
      <p:sp>
        <p:nvSpPr>
          <p:cNvPr id="7" name="TextBox 6">
            <a:extLst>
              <a:ext uri="{FF2B5EF4-FFF2-40B4-BE49-F238E27FC236}">
                <a16:creationId xmlns:a16="http://schemas.microsoft.com/office/drawing/2014/main" id="{93952845-EC92-913A-EADC-2C491779A275}"/>
              </a:ext>
            </a:extLst>
          </p:cNvPr>
          <p:cNvSpPr txBox="1"/>
          <p:nvPr/>
        </p:nvSpPr>
        <p:spPr>
          <a:xfrm>
            <a:off x="8429625" y="5229581"/>
            <a:ext cx="3350895" cy="1200329"/>
          </a:xfrm>
          <a:prstGeom prst="rect">
            <a:avLst/>
          </a:prstGeom>
          <a:noFill/>
        </p:spPr>
        <p:txBody>
          <a:bodyPr wrap="square">
            <a:spAutoFit/>
          </a:bodyPr>
          <a:lstStyle/>
          <a:p>
            <a:r>
              <a:rPr lang="en-US" sz="2400" b="1" dirty="0"/>
              <a:t>Q&amp;A:</a:t>
            </a:r>
            <a:br>
              <a:rPr lang="en-US" sz="2400" dirty="0"/>
            </a:br>
            <a:r>
              <a:rPr lang="en-US" sz="2400" dirty="0"/>
              <a:t>👉 </a:t>
            </a:r>
            <a:r>
              <a:rPr lang="en-US" sz="2400" i="1" dirty="0"/>
              <a:t>Thank You</a:t>
            </a:r>
            <a:br>
              <a:rPr lang="en-US" sz="2400" dirty="0"/>
            </a:br>
            <a:r>
              <a:rPr lang="en-US" sz="2400" dirty="0"/>
              <a:t>👉 </a:t>
            </a:r>
            <a:r>
              <a:rPr lang="en-US" sz="2400" i="1" dirty="0"/>
              <a:t>Any Questions?</a:t>
            </a:r>
            <a:endParaRPr lang="en-IN" sz="2400" dirty="0"/>
          </a:p>
        </p:txBody>
      </p:sp>
      <p:sp>
        <p:nvSpPr>
          <p:cNvPr id="2" name="Rectangle 1">
            <a:extLst>
              <a:ext uri="{FF2B5EF4-FFF2-40B4-BE49-F238E27FC236}">
                <a16:creationId xmlns:a16="http://schemas.microsoft.com/office/drawing/2014/main" id="{AC369FEC-FC20-5448-65D9-74A40FE71EAC}"/>
              </a:ext>
            </a:extLst>
          </p:cNvPr>
          <p:cNvSpPr/>
          <p:nvPr/>
        </p:nvSpPr>
        <p:spPr>
          <a:xfrm>
            <a:off x="0" y="400049"/>
            <a:ext cx="9086850" cy="1214438"/>
          </a:xfrm>
          <a:prstGeom prst="rect">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GB" sz="3600" dirty="0"/>
          </a:p>
        </p:txBody>
      </p:sp>
      <p:sp>
        <p:nvSpPr>
          <p:cNvPr id="4" name="Delay 6">
            <a:extLst>
              <a:ext uri="{FF2B5EF4-FFF2-40B4-BE49-F238E27FC236}">
                <a16:creationId xmlns:a16="http://schemas.microsoft.com/office/drawing/2014/main" id="{814FBCF3-2AC3-C9CD-67CC-F47228EAC17E}"/>
              </a:ext>
            </a:extLst>
          </p:cNvPr>
          <p:cNvSpPr/>
          <p:nvPr/>
        </p:nvSpPr>
        <p:spPr>
          <a:xfrm>
            <a:off x="8429625" y="400049"/>
            <a:ext cx="1314450" cy="1214438"/>
          </a:xfrm>
          <a:prstGeom prst="flowChartDelay">
            <a:avLst/>
          </a:prstGeom>
          <a:solidFill>
            <a:srgbClr val="0BA0D5"/>
          </a:solidFill>
          <a:ln>
            <a:solidFill>
              <a:srgbClr val="0E9FD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Box 2">
            <a:extLst>
              <a:ext uri="{FF2B5EF4-FFF2-40B4-BE49-F238E27FC236}">
                <a16:creationId xmlns:a16="http://schemas.microsoft.com/office/drawing/2014/main" id="{9A9D9F51-0516-ECB0-2191-EF59ECFA669D}"/>
              </a:ext>
            </a:extLst>
          </p:cNvPr>
          <p:cNvSpPr txBox="1"/>
          <p:nvPr/>
        </p:nvSpPr>
        <p:spPr>
          <a:xfrm>
            <a:off x="322868" y="684102"/>
            <a:ext cx="6094428" cy="646331"/>
          </a:xfrm>
          <a:prstGeom prst="rect">
            <a:avLst/>
          </a:prstGeom>
          <a:noFill/>
        </p:spPr>
        <p:txBody>
          <a:bodyPr wrap="square">
            <a:spAutoFit/>
          </a:bodyPr>
          <a:lstStyle/>
          <a:p>
            <a:r>
              <a:rPr lang="en-IN" sz="3600" dirty="0">
                <a:solidFill>
                  <a:schemeClr val="bg1"/>
                </a:solidFill>
              </a:rPr>
              <a:t>Conclusion</a:t>
            </a:r>
          </a:p>
        </p:txBody>
      </p:sp>
    </p:spTree>
    <p:extLst>
      <p:ext uri="{BB962C8B-B14F-4D97-AF65-F5344CB8AC3E}">
        <p14:creationId xmlns:p14="http://schemas.microsoft.com/office/powerpoint/2010/main" val="24984309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188</TotalTime>
  <Words>1811</Words>
  <Application>Microsoft Office PowerPoint</Application>
  <PresentationFormat>Widescreen</PresentationFormat>
  <Paragraphs>173</Paragraphs>
  <Slides>20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Wingdings</vt:lpstr>
      <vt:lpstr>Office Theme</vt:lpstr>
      <vt:lpstr>PowerPoint Presentation</vt:lpstr>
      <vt:lpstr>Lung Cancer Detection Using Deep Learning on CT Scan Images</vt:lpstr>
      <vt:lpstr>PowerPoint Presentation</vt:lpstr>
      <vt:lpstr> Research Questions ?</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AIBMS Clinical Case Study</dc:title>
  <dc:creator/>
  <cp:lastModifiedBy>Vishnu Vardhan Reddy Nallamaru [Student-PECS]</cp:lastModifiedBy>
  <cp:revision>13</cp:revision>
  <dcterms:created xsi:type="dcterms:W3CDTF">2025-10-10T10:41:36Z</dcterms:created>
  <dcterms:modified xsi:type="dcterms:W3CDTF">2026-03-25T10:47:52Z</dcterms:modified>
</cp:coreProperties>
</file>